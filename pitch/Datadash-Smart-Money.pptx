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Datadash tracks every Polymarket wallet. This agent turns what the most profitable ones do into signals any OKX agent can subscribe to and copy.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trade is on-chain, so the information is free. What's missing is attention, judgment about which trades matter, and speed.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Trigger: Datadash signalScore, per trader and position. Confirmation: Datadash globalSmartMoney over top-500 wallets only. Consensus alone repeats the same markets for weeks with no entry price; one trader alone can be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real signal from pnpm preview on 2026-09-23. The last line describes what the subscriber's agent does next when copy-trading is on; no order had been placed when this deck was made. In the demo we run it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resident program calls onchainos agent subscribe-active and agent deliver. Datadash never holds funds or places trades; copy-trading is off unless each subscriber turns it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Several traders on one outcome become one signal; markets where top traders hold both sides are skipped. Every threshold is a setting.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pnpm backtest, run 2026-09-23 over 180 days, YES/NO markets only. As delivered with caps: 615 resolved, 66.5% hit rate at average entry 0.65, +2.5% ± 3.6% per signal, +$1,548 at $100 each, max drawdown $2,514. Before caps: 681 resolved, +1.5% ± 3.4%. An earlier run that included team-name sports markets looked stronger (+4.4% over 3,782 signals), but OKX's YES/NO format can't carry those. The live filters that matter most, the Datadash score and the smart-money consensus, can't be replayed.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Plus: a health file after every round, and webhook alerts when rounds fail or a subscription waits too long for acceptance.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OKX blocks a price of 0 on subscriptions, so the free tier lives on A2MCP. Pro becomes a second service on the same identity once Standard has a track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screens: the buyer (Claude Code with Onchain OS and a funded Agentic Wallet) and the provider server running pnpm start. Full script in DEMO.md.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is tuning on the live track record: the backtest can't replay the Datadash score or the smart-money check, so real results decide the thresholds.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Signals are information, not financial advice. Copy-trading is off unless each subscriber turns it on.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35240" y="-320040"/>
            <a:ext cx="713232" cy="713232"/>
          </a:xfrm>
          <a:prstGeom prst="rect">
            <a:avLst/>
          </a:prstGeom>
          <a:solidFill>
            <a:srgbClr val="4E3DC9"/>
          </a:solidFill>
          <a:ln w="12700">
            <a:solidFill>
              <a:srgbClr val="4E3D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-320040"/>
            <a:ext cx="713232" cy="713232"/>
          </a:xfrm>
          <a:prstGeom prst="rect">
            <a:avLst/>
          </a:prstGeom>
          <a:solidFill>
            <a:srgbClr val="4E3DC9"/>
          </a:solidFill>
          <a:ln w="12700">
            <a:solidFill>
              <a:srgbClr val="4E3DC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89720" y="-320040"/>
            <a:ext cx="713232" cy="713232"/>
          </a:xfrm>
          <a:prstGeom prst="rect">
            <a:avLst/>
          </a:prstGeom>
          <a:solidFill>
            <a:srgbClr val="2B2466"/>
          </a:solidFill>
          <a:ln w="12700">
            <a:solidFill>
              <a:srgbClr val="2B24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44200" y="-320040"/>
            <a:ext cx="713232" cy="713232"/>
          </a:xfrm>
          <a:prstGeom prst="rect">
            <a:avLst/>
          </a:prstGeom>
          <a:solidFill>
            <a:srgbClr val="2B2466"/>
          </a:solidFill>
          <a:ln w="12700">
            <a:solidFill>
              <a:srgbClr val="2B24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21440" y="-320040"/>
            <a:ext cx="713232" cy="713232"/>
          </a:xfrm>
          <a:prstGeom prst="rect">
            <a:avLst/>
          </a:prstGeom>
          <a:solidFill>
            <a:srgbClr val="7653F6"/>
          </a:solidFill>
          <a:ln w="12700">
            <a:solidFill>
              <a:srgbClr val="7653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35240" y="457200"/>
            <a:ext cx="713232" cy="713232"/>
          </a:xfrm>
          <a:prstGeom prst="rect">
            <a:avLst/>
          </a:prstGeom>
          <a:solidFill>
            <a:srgbClr val="2B2466"/>
          </a:solidFill>
          <a:ln w="12700">
            <a:solidFill>
              <a:srgbClr val="2B24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0" y="457200"/>
            <a:ext cx="713232" cy="713232"/>
          </a:xfrm>
          <a:prstGeom prst="rect">
            <a:avLst/>
          </a:prstGeom>
          <a:solidFill>
            <a:srgbClr val="2B2466"/>
          </a:solidFill>
          <a:ln w="12700">
            <a:solidFill>
              <a:srgbClr val="2B24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89720" y="457200"/>
            <a:ext cx="713232" cy="713232"/>
          </a:xfrm>
          <a:prstGeom prst="rect">
            <a:avLst/>
          </a:prstGeom>
          <a:solidFill>
            <a:srgbClr val="6247EA"/>
          </a:solidFill>
          <a:ln w="12700">
            <a:solidFill>
              <a:srgbClr val="6247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66960" y="457200"/>
            <a:ext cx="713232" cy="713232"/>
          </a:xfrm>
          <a:prstGeom prst="rect">
            <a:avLst/>
          </a:prstGeom>
          <a:solidFill>
            <a:srgbClr val="2B2466"/>
          </a:solidFill>
          <a:ln w="12700">
            <a:solidFill>
              <a:srgbClr val="2B24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457200"/>
            <a:ext cx="713232" cy="713232"/>
          </a:xfrm>
          <a:prstGeom prst="rect">
            <a:avLst/>
          </a:prstGeom>
          <a:solidFill>
            <a:srgbClr val="7653F6"/>
          </a:solidFill>
          <a:ln w="12700">
            <a:solidFill>
              <a:srgbClr val="7653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521440" y="457200"/>
            <a:ext cx="713232" cy="713232"/>
          </a:xfrm>
          <a:prstGeom prst="rect">
            <a:avLst/>
          </a:prstGeom>
          <a:solidFill>
            <a:srgbClr val="7653F6"/>
          </a:solidFill>
          <a:ln w="12700">
            <a:solidFill>
              <a:srgbClr val="7653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35240" y="1234440"/>
            <a:ext cx="713232" cy="713232"/>
          </a:xfrm>
          <a:prstGeom prst="rect">
            <a:avLst/>
          </a:prstGeom>
          <a:solidFill>
            <a:srgbClr val="4E3DC9"/>
          </a:solidFill>
          <a:ln w="12700">
            <a:solidFill>
              <a:srgbClr val="4E3DC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0" y="1234440"/>
            <a:ext cx="713232" cy="713232"/>
          </a:xfrm>
          <a:prstGeom prst="rect">
            <a:avLst/>
          </a:prstGeom>
          <a:solidFill>
            <a:srgbClr val="6247EA"/>
          </a:solidFill>
          <a:ln w="12700">
            <a:solidFill>
              <a:srgbClr val="6247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89720" y="1234440"/>
            <a:ext cx="713232" cy="713232"/>
          </a:xfrm>
          <a:prstGeom prst="rect">
            <a:avLst/>
          </a:prstGeom>
          <a:solidFill>
            <a:srgbClr val="2B2466"/>
          </a:solidFill>
          <a:ln w="12700">
            <a:solidFill>
              <a:srgbClr val="2B24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66960" y="1234440"/>
            <a:ext cx="713232" cy="713232"/>
          </a:xfrm>
          <a:prstGeom prst="rect">
            <a:avLst/>
          </a:prstGeom>
          <a:solidFill>
            <a:srgbClr val="7653F6"/>
          </a:solidFill>
          <a:ln w="12700">
            <a:solidFill>
              <a:srgbClr val="7653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44200" y="1234440"/>
            <a:ext cx="713232" cy="713232"/>
          </a:xfrm>
          <a:prstGeom prst="rect">
            <a:avLst/>
          </a:prstGeom>
          <a:solidFill>
            <a:srgbClr val="2B2466"/>
          </a:solidFill>
          <a:ln w="12700">
            <a:solidFill>
              <a:srgbClr val="2B24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521440" y="1234440"/>
            <a:ext cx="713232" cy="713232"/>
          </a:xfrm>
          <a:prstGeom prst="rect">
            <a:avLst/>
          </a:prstGeom>
          <a:solidFill>
            <a:srgbClr val="907AF9"/>
          </a:solidFill>
          <a:ln w="12700">
            <a:solidFill>
              <a:srgbClr val="907AF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35240" y="2011680"/>
            <a:ext cx="713232" cy="713232"/>
          </a:xfrm>
          <a:prstGeom prst="rect">
            <a:avLst/>
          </a:prstGeom>
          <a:solidFill>
            <a:srgbClr val="2B2466"/>
          </a:solidFill>
          <a:ln w="12700">
            <a:solidFill>
              <a:srgbClr val="2B24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0" y="2011680"/>
            <a:ext cx="713232" cy="713232"/>
          </a:xfrm>
          <a:prstGeom prst="rect">
            <a:avLst/>
          </a:prstGeom>
          <a:solidFill>
            <a:srgbClr val="6247EA"/>
          </a:solidFill>
          <a:ln w="12700">
            <a:solidFill>
              <a:srgbClr val="6247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66960" y="2011680"/>
            <a:ext cx="713232" cy="713232"/>
          </a:xfrm>
          <a:prstGeom prst="rect">
            <a:avLst/>
          </a:prstGeom>
          <a:solidFill>
            <a:srgbClr val="7653F6"/>
          </a:solidFill>
          <a:ln w="12700">
            <a:solidFill>
              <a:srgbClr val="7653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521440" y="2011680"/>
            <a:ext cx="713232" cy="713232"/>
          </a:xfrm>
          <a:prstGeom prst="rect">
            <a:avLst/>
          </a:prstGeom>
          <a:solidFill>
            <a:srgbClr val="2B2466"/>
          </a:solidFill>
          <a:ln w="12700">
            <a:solidFill>
              <a:srgbClr val="2B24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35240" y="2788920"/>
            <a:ext cx="713232" cy="713232"/>
          </a:xfrm>
          <a:prstGeom prst="rect">
            <a:avLst/>
          </a:prstGeom>
          <a:solidFill>
            <a:srgbClr val="2B2466"/>
          </a:solidFill>
          <a:ln w="12700">
            <a:solidFill>
              <a:srgbClr val="2B24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2788920"/>
            <a:ext cx="713232" cy="713232"/>
          </a:xfrm>
          <a:prstGeom prst="rect">
            <a:avLst/>
          </a:prstGeom>
          <a:solidFill>
            <a:srgbClr val="7653F6"/>
          </a:solidFill>
          <a:ln w="12700">
            <a:solidFill>
              <a:srgbClr val="7653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89720" y="2788920"/>
            <a:ext cx="713232" cy="713232"/>
          </a:xfrm>
          <a:prstGeom prst="rect">
            <a:avLst/>
          </a:prstGeom>
          <a:solidFill>
            <a:srgbClr val="7653F6"/>
          </a:solidFill>
          <a:ln w="12700">
            <a:solidFill>
              <a:srgbClr val="7653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966960" y="2788920"/>
            <a:ext cx="713232" cy="713232"/>
          </a:xfrm>
          <a:prstGeom prst="rect">
            <a:avLst/>
          </a:prstGeom>
          <a:solidFill>
            <a:srgbClr val="907AF9"/>
          </a:solidFill>
          <a:ln w="12700">
            <a:solidFill>
              <a:srgbClr val="907AF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744200" y="2788920"/>
            <a:ext cx="713232" cy="713232"/>
          </a:xfrm>
          <a:prstGeom prst="rect">
            <a:avLst/>
          </a:prstGeom>
          <a:solidFill>
            <a:srgbClr val="907AF9"/>
          </a:solidFill>
          <a:ln w="12700">
            <a:solidFill>
              <a:srgbClr val="907AF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521440" y="2788920"/>
            <a:ext cx="713232" cy="713232"/>
          </a:xfrm>
          <a:prstGeom prst="rect">
            <a:avLst/>
          </a:prstGeom>
          <a:solidFill>
            <a:srgbClr val="2B2466"/>
          </a:solidFill>
          <a:ln w="12700">
            <a:solidFill>
              <a:srgbClr val="2B24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35240" y="3566160"/>
            <a:ext cx="713232" cy="713232"/>
          </a:xfrm>
          <a:prstGeom prst="rect">
            <a:avLst/>
          </a:prstGeom>
          <a:solidFill>
            <a:srgbClr val="7653F6"/>
          </a:solidFill>
          <a:ln w="12700">
            <a:solidFill>
              <a:srgbClr val="7653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66960" y="3566160"/>
            <a:ext cx="713232" cy="713232"/>
          </a:xfrm>
          <a:prstGeom prst="rect">
            <a:avLst/>
          </a:prstGeom>
          <a:solidFill>
            <a:srgbClr val="2B2466"/>
          </a:solidFill>
          <a:ln w="12700">
            <a:solidFill>
              <a:srgbClr val="2B24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744200" y="3566160"/>
            <a:ext cx="713232" cy="713232"/>
          </a:xfrm>
          <a:prstGeom prst="rect">
            <a:avLst/>
          </a:prstGeom>
          <a:solidFill>
            <a:srgbClr val="A79CF7"/>
          </a:solidFill>
          <a:ln w="12700">
            <a:solidFill>
              <a:srgbClr val="A79CF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35240" y="4343400"/>
            <a:ext cx="713232" cy="713232"/>
          </a:xfrm>
          <a:prstGeom prst="rect">
            <a:avLst/>
          </a:prstGeom>
          <a:solidFill>
            <a:srgbClr val="7653F6"/>
          </a:solidFill>
          <a:ln w="12700">
            <a:solidFill>
              <a:srgbClr val="7653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0" y="4343400"/>
            <a:ext cx="713232" cy="713232"/>
          </a:xfrm>
          <a:prstGeom prst="rect">
            <a:avLst/>
          </a:prstGeom>
          <a:solidFill>
            <a:srgbClr val="907AF9"/>
          </a:solidFill>
          <a:ln w="12700">
            <a:solidFill>
              <a:srgbClr val="907AF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89720" y="4343400"/>
            <a:ext cx="713232" cy="713232"/>
          </a:xfrm>
          <a:prstGeom prst="rect">
            <a:avLst/>
          </a:prstGeom>
          <a:solidFill>
            <a:srgbClr val="907AF9"/>
          </a:solidFill>
          <a:ln w="12700">
            <a:solidFill>
              <a:srgbClr val="907AF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966960" y="4343400"/>
            <a:ext cx="713232" cy="713232"/>
          </a:xfrm>
          <a:prstGeom prst="rect">
            <a:avLst/>
          </a:prstGeom>
          <a:solidFill>
            <a:srgbClr val="2B2466"/>
          </a:solidFill>
          <a:ln w="12700">
            <a:solidFill>
              <a:srgbClr val="2B24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744200" y="4343400"/>
            <a:ext cx="713232" cy="713232"/>
          </a:xfrm>
          <a:prstGeom prst="rect">
            <a:avLst/>
          </a:prstGeom>
          <a:solidFill>
            <a:srgbClr val="A79CF7"/>
          </a:solidFill>
          <a:ln w="12700">
            <a:solidFill>
              <a:srgbClr val="A79CF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521440" y="4343400"/>
            <a:ext cx="713232" cy="713232"/>
          </a:xfrm>
          <a:prstGeom prst="rect">
            <a:avLst/>
          </a:prstGeom>
          <a:solidFill>
            <a:srgbClr val="CECAFF"/>
          </a:solidFill>
          <a:ln w="12700">
            <a:solidFill>
              <a:srgbClr val="CECA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35240" y="5120640"/>
            <a:ext cx="713232" cy="713232"/>
          </a:xfrm>
          <a:prstGeom prst="rect">
            <a:avLst/>
          </a:prstGeom>
          <a:solidFill>
            <a:srgbClr val="907AF9"/>
          </a:solidFill>
          <a:ln w="12700">
            <a:solidFill>
              <a:srgbClr val="907AF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412480" y="5120640"/>
            <a:ext cx="713232" cy="713232"/>
          </a:xfrm>
          <a:prstGeom prst="rect">
            <a:avLst/>
          </a:prstGeom>
          <a:solidFill>
            <a:srgbClr val="907AF9"/>
          </a:solidFill>
          <a:ln w="12700">
            <a:solidFill>
              <a:srgbClr val="907AF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89720" y="5120640"/>
            <a:ext cx="713232" cy="713232"/>
          </a:xfrm>
          <a:prstGeom prst="rect">
            <a:avLst/>
          </a:prstGeom>
          <a:solidFill>
            <a:srgbClr val="2B2466"/>
          </a:solidFill>
          <a:ln w="12700">
            <a:solidFill>
              <a:srgbClr val="2B246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966960" y="5120640"/>
            <a:ext cx="713232" cy="713232"/>
          </a:xfrm>
          <a:prstGeom prst="rect">
            <a:avLst/>
          </a:prstGeom>
          <a:solidFill>
            <a:srgbClr val="A79CF7"/>
          </a:solidFill>
          <a:ln w="12700">
            <a:solidFill>
              <a:srgbClr val="A79CF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744200" y="5120640"/>
            <a:ext cx="713232" cy="713232"/>
          </a:xfrm>
          <a:prstGeom prst="rect">
            <a:avLst/>
          </a:prstGeom>
          <a:solidFill>
            <a:srgbClr val="CECAFF"/>
          </a:solidFill>
          <a:ln w="12700">
            <a:solidFill>
              <a:srgbClr val="CECA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521440" y="5120640"/>
            <a:ext cx="713232" cy="713232"/>
          </a:xfrm>
          <a:prstGeom prst="rect">
            <a:avLst/>
          </a:prstGeom>
          <a:solidFill>
            <a:srgbClr val="CECAFF"/>
          </a:solidFill>
          <a:ln w="12700">
            <a:solidFill>
              <a:srgbClr val="CECA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635240" y="5897880"/>
            <a:ext cx="713232" cy="713232"/>
          </a:xfrm>
          <a:prstGeom prst="rect">
            <a:avLst/>
          </a:prstGeom>
          <a:solidFill>
            <a:srgbClr val="907AF9"/>
          </a:solidFill>
          <a:ln w="12700">
            <a:solidFill>
              <a:srgbClr val="907AF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412480" y="5897880"/>
            <a:ext cx="713232" cy="713232"/>
          </a:xfrm>
          <a:prstGeom prst="rect">
            <a:avLst/>
          </a:prstGeom>
          <a:solidFill>
            <a:srgbClr val="A79CF7"/>
          </a:solidFill>
          <a:ln w="12700">
            <a:solidFill>
              <a:srgbClr val="A79CF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189720" y="5897880"/>
            <a:ext cx="713232" cy="713232"/>
          </a:xfrm>
          <a:prstGeom prst="rect">
            <a:avLst/>
          </a:prstGeom>
          <a:solidFill>
            <a:srgbClr val="A79CF7"/>
          </a:solidFill>
          <a:ln w="12700">
            <a:solidFill>
              <a:srgbClr val="A79CF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966960" y="5897880"/>
            <a:ext cx="713232" cy="713232"/>
          </a:xfrm>
          <a:prstGeom prst="rect">
            <a:avLst/>
          </a:prstGeom>
          <a:solidFill>
            <a:srgbClr val="2B2466"/>
          </a:solidFill>
          <a:ln w="12700">
            <a:solidFill>
              <a:srgbClr val="2B246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744200" y="5897880"/>
            <a:ext cx="713232" cy="713232"/>
          </a:xfrm>
          <a:prstGeom prst="rect">
            <a:avLst/>
          </a:prstGeom>
          <a:solidFill>
            <a:srgbClr val="2B2466"/>
          </a:solidFill>
          <a:ln w="12700">
            <a:solidFill>
              <a:srgbClr val="2B246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521440" y="5897880"/>
            <a:ext cx="713232" cy="713232"/>
          </a:xfrm>
          <a:prstGeom prst="rect">
            <a:avLst/>
          </a:prstGeom>
          <a:solidFill>
            <a:srgbClr val="CECAFF"/>
          </a:solidFill>
          <a:ln w="12700">
            <a:solidFill>
              <a:srgbClr val="CECAFF"/>
            </a:solidFill>
            <a:prstDash val="solid"/>
          </a:ln>
        </p:spPr>
      </p:sp>
      <p:pic>
        <p:nvPicPr>
          <p:cNvPr id="50" name="Image 0" descr="/Users/arpit/Desktop/datadash/okx-smart-money-agent/listing/ava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502920" cy="502920"/>
          </a:xfrm>
          <a:prstGeom prst="rect">
            <a:avLst/>
          </a:prstGeom>
        </p:spPr>
      </p:pic>
      <p:sp>
        <p:nvSpPr>
          <p:cNvPr id="51" name="Text 48"/>
          <p:cNvSpPr txBox="1"/>
          <p:nvPr/>
        </p:nvSpPr>
        <p:spPr>
          <a:xfrm>
            <a:off x="1371600" y="6400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Datadash Polymarket Analytics</a:t>
            </a:r>
            <a:endParaRPr lang="en-US" sz="2200" dirty="0"/>
          </a:p>
        </p:txBody>
      </p:sp>
      <p:sp>
        <p:nvSpPr>
          <p:cNvPr id="52" name="Text 49"/>
          <p:cNvSpPr txBox="1"/>
          <p:nvPr/>
        </p:nvSpPr>
        <p:spPr>
          <a:xfrm>
            <a:off x="731520" y="1783080"/>
            <a:ext cx="6675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Polymarket's best traders from any OKX agent.</a:t>
            </a:r>
            <a:endParaRPr lang="en-US" sz="5000" dirty="0"/>
          </a:p>
        </p:txBody>
      </p:sp>
      <p:sp>
        <p:nvSpPr>
          <p:cNvPr id="53" name="Text 50"/>
          <p:cNvSpPr txBox="1"/>
          <p:nvPr/>
        </p:nvSpPr>
        <p:spPr>
          <a:xfrm>
            <a:off x="731520" y="46177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C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Smart-money signals on OKX.AI: Datadash finds the trades, OKX runs the subscription, the payment and the execution.</a:t>
            </a:r>
            <a:endParaRPr lang="en-US" sz="1800" dirty="0"/>
          </a:p>
        </p:txBody>
      </p:sp>
      <p:sp>
        <p:nvSpPr>
          <p:cNvPr id="54" name="Shape 51"/>
          <p:cNvSpPr/>
          <p:nvPr/>
        </p:nvSpPr>
        <p:spPr>
          <a:xfrm>
            <a:off x="731520" y="5760720"/>
            <a:ext cx="3749040" cy="457200"/>
          </a:xfrm>
          <a:prstGeom prst="roundRect">
            <a:avLst>
              <a:gd name="adj" fmla="val 50000"/>
            </a:avLst>
          </a:prstGeom>
          <a:solidFill>
            <a:srgbClr val="0E0C1F"/>
          </a:solidFill>
          <a:ln w="15875">
            <a:solidFill>
              <a:srgbClr val="7653F6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731520" y="5760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EC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OKX Dev Day 2026  ·  Build a Company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66928"/>
            <a:ext cx="91440" cy="91440"/>
          </a:xfrm>
          <a:prstGeom prst="rect">
            <a:avLst/>
          </a:prstGeom>
          <a:solidFill>
            <a:srgbClr val="6247EA"/>
          </a:solidFill>
          <a:ln w="12700">
            <a:solidFill>
              <a:srgbClr val="6247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" y="566928"/>
            <a:ext cx="91440" cy="91440"/>
          </a:xfrm>
          <a:prstGeom prst="rect">
            <a:avLst/>
          </a:prstGeom>
          <a:solidFill>
            <a:srgbClr val="7653F6"/>
          </a:solidFill>
          <a:ln w="12700">
            <a:solidFill>
              <a:srgbClr val="7653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685800"/>
            <a:ext cx="91440" cy="91440"/>
          </a:xfrm>
          <a:prstGeom prst="rect">
            <a:avLst/>
          </a:prstGeom>
          <a:solidFill>
            <a:srgbClr val="907AF9"/>
          </a:solidFill>
          <a:ln w="12700">
            <a:solidFill>
              <a:srgbClr val="907A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685800"/>
            <a:ext cx="91440" cy="91440"/>
          </a:xfrm>
          <a:prstGeom prst="rect">
            <a:avLst/>
          </a:prstGeom>
          <a:solidFill>
            <a:srgbClr val="CECAFF"/>
          </a:solidFill>
          <a:ln w="12700">
            <a:solidFill>
              <a:srgbClr val="CECA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51206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79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THE PROBLEM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96012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Polymarket's best traders are public.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Acting on them isn't.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74320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907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9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34340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9C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wallets to watch, around the clock, across every market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274320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A79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600" dirty="0"/>
          </a:p>
        </p:txBody>
      </p:sp>
      <p:sp>
        <p:nvSpPr>
          <p:cNvPr id="11" name="Text 9"/>
          <p:cNvSpPr txBox="1"/>
          <p:nvPr/>
        </p:nvSpPr>
        <p:spPr>
          <a:xfrm>
            <a:off x="4434840" y="434340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9C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whale can be wrong, hedged elsewhere, or already on the way out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138160" y="274320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CEC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3¢</a:t>
            </a:r>
            <a:endParaRPr lang="en-US" sz="9600" dirty="0"/>
          </a:p>
        </p:txBody>
      </p:sp>
      <p:sp>
        <p:nvSpPr>
          <p:cNvPr id="13" name="Text 11"/>
          <p:cNvSpPr txBox="1"/>
          <p:nvPr/>
        </p:nvSpPr>
        <p:spPr>
          <a:xfrm>
            <a:off x="8138160" y="434340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9C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drift can erase a copied trade's edge. We stop chasing there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31520" y="5623560"/>
            <a:ext cx="10744200" cy="640080"/>
          </a:xfrm>
          <a:prstGeom prst="roundRect">
            <a:avLst>
              <a:gd name="adj" fmla="val 20000"/>
            </a:avLst>
          </a:prstGeom>
          <a:solidFill>
            <a:srgbClr val="1A1638"/>
          </a:solidFill>
          <a:ln w="12700">
            <a:solidFill>
              <a:srgbClr val="1A163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05840" y="562356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Datadash already scores every Polymarket wallet. This agent turns that into signals any OKX agent can act on.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66928"/>
            <a:ext cx="91440" cy="91440"/>
          </a:xfrm>
          <a:prstGeom prst="rect">
            <a:avLst/>
          </a:prstGeom>
          <a:solidFill>
            <a:srgbClr val="6247EA"/>
          </a:solidFill>
          <a:ln w="12700">
            <a:solidFill>
              <a:srgbClr val="6247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" y="566928"/>
            <a:ext cx="91440" cy="91440"/>
          </a:xfrm>
          <a:prstGeom prst="rect">
            <a:avLst/>
          </a:prstGeom>
          <a:solidFill>
            <a:srgbClr val="7653F6"/>
          </a:solidFill>
          <a:ln w="12700">
            <a:solidFill>
              <a:srgbClr val="7653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685800"/>
            <a:ext cx="91440" cy="91440"/>
          </a:xfrm>
          <a:prstGeom prst="rect">
            <a:avLst/>
          </a:prstGeom>
          <a:solidFill>
            <a:srgbClr val="907AF9"/>
          </a:solidFill>
          <a:ln w="12700">
            <a:solidFill>
              <a:srgbClr val="907A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685800"/>
            <a:ext cx="91440" cy="91440"/>
          </a:xfrm>
          <a:prstGeom prst="rect">
            <a:avLst/>
          </a:prstGeom>
          <a:solidFill>
            <a:srgbClr val="CECAFF"/>
          </a:solidFill>
          <a:ln w="12700">
            <a:solidFill>
              <a:srgbClr val="CECA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51206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79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THE IDEA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96012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trader bets big. The smart money agrees.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get the signal.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731520" y="2606040"/>
            <a:ext cx="3611880" cy="3429000"/>
          </a:xfrm>
          <a:prstGeom prst="roundRect">
            <a:avLst>
              <a:gd name="adj" fmla="val 3733"/>
            </a:avLst>
          </a:prstGeom>
          <a:solidFill>
            <a:srgbClr val="1A1638"/>
          </a:solidFill>
          <a:ln w="12700">
            <a:solidFill>
              <a:srgbClr val="1A16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292608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6247EA"/>
          </a:solidFill>
          <a:ln w="12700">
            <a:solidFill>
              <a:srgbClr val="6247EA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310896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051560" y="3840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79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41330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unusually big bet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1051560" y="46634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C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of Datadash's 1,000 top-scoring positions, from any wallet, 3x+ its usual size. Gives the moment, the price and the size.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709160" y="2606040"/>
            <a:ext cx="3611880" cy="3429000"/>
          </a:xfrm>
          <a:prstGeom prst="roundRect">
            <a:avLst>
              <a:gd name="adj" fmla="val 3733"/>
            </a:avLst>
          </a:prstGeom>
          <a:solidFill>
            <a:srgbClr val="1A1638"/>
          </a:solidFill>
          <a:ln w="12700">
            <a:solidFill>
              <a:srgbClr val="1A163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0" y="292608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907AF9"/>
          </a:solidFill>
          <a:ln w="12700">
            <a:solidFill>
              <a:srgbClr val="907AF9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310896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029200" y="3840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79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CONFIRMATION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5029200" y="41330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money agrees</a:t>
            </a:r>
            <a:endParaRPr lang="en-US" sz="2200" dirty="0"/>
          </a:p>
        </p:txBody>
      </p:sp>
      <p:sp>
        <p:nvSpPr>
          <p:cNvPr id="19" name="Text 15"/>
          <p:cNvSpPr txBox="1"/>
          <p:nvPr/>
        </p:nvSpPr>
        <p:spPr>
          <a:xfrm>
            <a:off x="5029200" y="46634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C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500 most profitable traders put 60%+ of their money on the same side: $10K+, 3+ wallets.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4343400" y="384048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07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4000" dirty="0"/>
          </a:p>
        </p:txBody>
      </p:sp>
      <p:sp>
        <p:nvSpPr>
          <p:cNvPr id="21" name="Text 17"/>
          <p:cNvSpPr txBox="1"/>
          <p:nvPr/>
        </p:nvSpPr>
        <p:spPr>
          <a:xfrm>
            <a:off x="8321040" y="384048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07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4000" dirty="0"/>
          </a:p>
        </p:txBody>
      </p:sp>
      <p:sp>
        <p:nvSpPr>
          <p:cNvPr id="22" name="Shape 18"/>
          <p:cNvSpPr/>
          <p:nvPr/>
        </p:nvSpPr>
        <p:spPr>
          <a:xfrm>
            <a:off x="8686800" y="2606040"/>
            <a:ext cx="2788920" cy="3429000"/>
          </a:xfrm>
          <a:prstGeom prst="roundRect">
            <a:avLst>
              <a:gd name="adj" fmla="val 4590"/>
            </a:avLst>
          </a:prstGeom>
          <a:solidFill>
            <a:srgbClr val="241E4D"/>
          </a:solidFill>
          <a:ln w="25400">
            <a:solidFill>
              <a:srgbClr val="2EE6A6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0" y="2971800"/>
            <a:ext cx="548640" cy="54864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9006840" y="3840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9006840" y="4133088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limit order any OKX agent can copy</a:t>
            </a:r>
            <a:endParaRPr lang="en-US" sz="2200" dirty="0"/>
          </a:p>
        </p:txBody>
      </p:sp>
      <p:sp>
        <p:nvSpPr>
          <p:cNvPr id="26" name="Text 21"/>
          <p:cNvSpPr txBox="1"/>
          <p:nvPr/>
        </p:nvSpPr>
        <p:spPr>
          <a:xfrm>
            <a:off x="9006840" y="5257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for 2 hours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66928"/>
            <a:ext cx="91440" cy="91440"/>
          </a:xfrm>
          <a:prstGeom prst="rect">
            <a:avLst/>
          </a:prstGeom>
          <a:solidFill>
            <a:srgbClr val="6247EA"/>
          </a:solidFill>
          <a:ln w="12700">
            <a:solidFill>
              <a:srgbClr val="6247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" y="566928"/>
            <a:ext cx="91440" cy="91440"/>
          </a:xfrm>
          <a:prstGeom prst="rect">
            <a:avLst/>
          </a:prstGeom>
          <a:solidFill>
            <a:srgbClr val="7653F6"/>
          </a:solidFill>
          <a:ln w="12700">
            <a:solidFill>
              <a:srgbClr val="7653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685800"/>
            <a:ext cx="91440" cy="91440"/>
          </a:xfrm>
          <a:prstGeom prst="rect">
            <a:avLst/>
          </a:prstGeom>
          <a:solidFill>
            <a:srgbClr val="907AF9"/>
          </a:solidFill>
          <a:ln w="12700">
            <a:solidFill>
              <a:srgbClr val="907A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685800"/>
            <a:ext cx="91440" cy="91440"/>
          </a:xfrm>
          <a:prstGeom prst="rect">
            <a:avLst/>
          </a:prstGeom>
          <a:solidFill>
            <a:srgbClr val="CECAFF"/>
          </a:solidFill>
          <a:ln w="12700">
            <a:solidFill>
              <a:srgbClr val="CECA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51206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79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THE PRODUCT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96012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lands in the subscriber's agent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731520" y="2011680"/>
            <a:ext cx="7040880" cy="4023360"/>
          </a:xfrm>
          <a:prstGeom prst="roundRect">
            <a:avLst>
              <a:gd name="adj" fmla="val 3182"/>
            </a:avLst>
          </a:prstGeom>
          <a:solidFill>
            <a:srgbClr val="1A1638"/>
          </a:solidFill>
          <a:ln w="12700">
            <a:solidFill>
              <a:srgbClr val="322B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0664" y="2020824"/>
            <a:ext cx="7022592" cy="18288"/>
          </a:xfrm>
          <a:prstGeom prst="rect">
            <a:avLst/>
          </a:prstGeom>
          <a:solidFill>
            <a:srgbClr val="1A1638"/>
          </a:solidFill>
          <a:ln w="12700">
            <a:solidFill>
              <a:srgbClr val="1A16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2240280"/>
            <a:ext cx="146304" cy="14630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61872" y="2240280"/>
            <a:ext cx="146304" cy="14630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17904" y="2240280"/>
            <a:ext cx="146304" cy="14630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874520" y="215798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8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subscriber's agent  ·  okx-ai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2606040"/>
            <a:ext cx="7040880" cy="0"/>
          </a:xfrm>
          <a:prstGeom prst="line">
            <a:avLst/>
          </a:prstGeom>
          <a:noFill/>
          <a:ln w="12700">
            <a:solidFill>
              <a:srgbClr val="322B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51560" y="2834640"/>
            <a:ext cx="6446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8E88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OKX.AI · Polymarket Smart Money Signals · new signal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rgbClr val="2EE6A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【</a:t>
            </a:r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Prediction</a:t>
            </a:r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rgbClr val="2EE6A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】</a:t>
            </a:r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"Will Benjamin Netanyahu be the next Prime Minister of Israel?" | NO | Limit | Order Price 0.73 | Position 2% | Settlement 2026-10-27 | Valid for 2h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8E88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copy-trading on · $5 per order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A79CF7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→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A79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copy-trading: limit order NO at 0.73 or less, your amount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79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FIRED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42316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#120</a:t>
            </a:r>
            <a:endParaRPr lang="en-US" sz="3800" dirty="0"/>
          </a:p>
        </p:txBody>
      </p:sp>
      <p:sp>
        <p:nvSpPr>
          <p:cNvPr id="18" name="Text 16"/>
          <p:cNvSpPr txBox="1"/>
          <p:nvPr/>
        </p:nvSpPr>
        <p:spPr>
          <a:xfrm>
            <a:off x="10104120" y="242316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trader rank, all-time PnL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3392424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3.9x</a:t>
            </a:r>
            <a:endParaRPr lang="en-US" sz="3800" dirty="0"/>
          </a:p>
        </p:txBody>
      </p:sp>
      <p:sp>
        <p:nvSpPr>
          <p:cNvPr id="20" name="Text 18"/>
          <p:cNvSpPr txBox="1"/>
          <p:nvPr/>
        </p:nvSpPr>
        <p:spPr>
          <a:xfrm>
            <a:off x="10104120" y="3392424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usual bet size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4361688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3800" dirty="0"/>
          </a:p>
        </p:txBody>
      </p:sp>
      <p:sp>
        <p:nvSpPr>
          <p:cNvPr id="22" name="Text 20"/>
          <p:cNvSpPr txBox="1"/>
          <p:nvPr/>
        </p:nvSpPr>
        <p:spPr>
          <a:xfrm>
            <a:off x="10104120" y="4361688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top-500 money on NO, 16 wallets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533095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E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+37%</a:t>
            </a:r>
            <a:endParaRPr lang="en-US" sz="3800" dirty="0"/>
          </a:p>
        </p:txBody>
      </p:sp>
      <p:sp>
        <p:nvSpPr>
          <p:cNvPr id="24" name="Text 22"/>
          <p:cNvSpPr txBox="1"/>
          <p:nvPr/>
        </p:nvSpPr>
        <p:spPr>
          <a:xfrm>
            <a:off x="10104120" y="5330952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payout if right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66928"/>
            <a:ext cx="91440" cy="91440"/>
          </a:xfrm>
          <a:prstGeom prst="rect">
            <a:avLst/>
          </a:prstGeom>
          <a:solidFill>
            <a:srgbClr val="6247EA"/>
          </a:solidFill>
          <a:ln w="12700">
            <a:solidFill>
              <a:srgbClr val="6247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" y="566928"/>
            <a:ext cx="91440" cy="91440"/>
          </a:xfrm>
          <a:prstGeom prst="rect">
            <a:avLst/>
          </a:prstGeom>
          <a:solidFill>
            <a:srgbClr val="7653F6"/>
          </a:solidFill>
          <a:ln w="12700">
            <a:solidFill>
              <a:srgbClr val="7653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685800"/>
            <a:ext cx="91440" cy="91440"/>
          </a:xfrm>
          <a:prstGeom prst="rect">
            <a:avLst/>
          </a:prstGeom>
          <a:solidFill>
            <a:srgbClr val="907AF9"/>
          </a:solidFill>
          <a:ln w="12700">
            <a:solidFill>
              <a:srgbClr val="907A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685800"/>
            <a:ext cx="91440" cy="91440"/>
          </a:xfrm>
          <a:prstGeom prst="rect">
            <a:avLst/>
          </a:prstGeom>
          <a:solidFill>
            <a:srgbClr val="CECAFF"/>
          </a:solidFill>
          <a:ln w="12700">
            <a:solidFill>
              <a:srgbClr val="CECA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51206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79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HOW IT WORKS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96012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Datadash finds the trades.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OKX runs everything else.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731520" y="251460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4E3DC9"/>
          </a:solidFill>
          <a:ln w="12700">
            <a:solidFill>
              <a:srgbClr val="4E3DC9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834640"/>
            <a:ext cx="457200" cy="4572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965960" y="3063240"/>
            <a:ext cx="868680" cy="0"/>
          </a:xfrm>
          <a:prstGeom prst="line">
            <a:avLst/>
          </a:prstGeom>
          <a:noFill/>
          <a:ln w="25400">
            <a:solidFill>
              <a:srgbClr val="907AF9"/>
            </a:solidFill>
            <a:prstDash val="solid"/>
            <a:tailEnd type="triangle"/>
          </a:ln>
        </p:spPr>
      </p:sp>
      <p:sp>
        <p:nvSpPr>
          <p:cNvPr id="11" name="Text 8"/>
          <p:cNvSpPr txBox="1"/>
          <p:nvPr/>
        </p:nvSpPr>
        <p:spPr>
          <a:xfrm>
            <a:off x="731520" y="3794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Datadash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42062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C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Polymarket wallet, scored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971800" y="251460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6247EA"/>
          </a:solidFill>
          <a:ln w="12700">
            <a:solidFill>
              <a:srgbClr val="6247E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2834640"/>
            <a:ext cx="457200" cy="4572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206240" y="3063240"/>
            <a:ext cx="868680" cy="0"/>
          </a:xfrm>
          <a:prstGeom prst="line">
            <a:avLst/>
          </a:prstGeom>
          <a:noFill/>
          <a:ln w="25400">
            <a:solidFill>
              <a:srgbClr val="907AF9"/>
            </a:solidFill>
            <a:prstDash val="solid"/>
            <a:tailEnd type="triangle"/>
          </a:ln>
        </p:spPr>
      </p:sp>
      <p:sp>
        <p:nvSpPr>
          <p:cNvPr id="16" name="Text 12"/>
          <p:cNvSpPr txBox="1"/>
          <p:nvPr/>
        </p:nvSpPr>
        <p:spPr>
          <a:xfrm>
            <a:off x="2971800" y="3794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program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2971800" y="42062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C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every 2 minutes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5212080" y="251460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7653F6"/>
          </a:solidFill>
          <a:ln w="12700">
            <a:solidFill>
              <a:srgbClr val="7653F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2834640"/>
            <a:ext cx="457200" cy="45720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6446520" y="3063240"/>
            <a:ext cx="868680" cy="0"/>
          </a:xfrm>
          <a:prstGeom prst="line">
            <a:avLst/>
          </a:prstGeom>
          <a:noFill/>
          <a:ln w="25400">
            <a:solidFill>
              <a:srgbClr val="907AF9"/>
            </a:solidFill>
            <a:prstDash val="solid"/>
            <a:tailEnd type="triangle"/>
          </a:ln>
        </p:spPr>
      </p:sp>
      <p:sp>
        <p:nvSpPr>
          <p:cNvPr id="21" name="Text 16"/>
          <p:cNvSpPr txBox="1"/>
          <p:nvPr/>
        </p:nvSpPr>
        <p:spPr>
          <a:xfrm>
            <a:off x="5212080" y="3794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OKX.AI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5212080" y="42062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C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Subscription, fee and escrow on X Layer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7452360" y="251460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907AF9"/>
          </a:solidFill>
          <a:ln w="12700">
            <a:solidFill>
              <a:srgbClr val="907AF9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2834640"/>
            <a:ext cx="457200" cy="45720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8686800" y="3063240"/>
            <a:ext cx="868680" cy="0"/>
          </a:xfrm>
          <a:prstGeom prst="line">
            <a:avLst/>
          </a:prstGeom>
          <a:noFill/>
          <a:ln w="25400">
            <a:solidFill>
              <a:srgbClr val="907AF9"/>
            </a:solidFill>
            <a:prstDash val="solid"/>
            <a:tailEnd type="triangle"/>
          </a:ln>
        </p:spPr>
      </p:sp>
      <p:sp>
        <p:nvSpPr>
          <p:cNvPr id="26" name="Text 20"/>
          <p:cNvSpPr txBox="1"/>
          <p:nvPr/>
        </p:nvSpPr>
        <p:spPr>
          <a:xfrm>
            <a:off x="7452360" y="3794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Subscriber's agent</a:t>
            </a:r>
            <a:endParaRPr lang="en-US" sz="1700" dirty="0"/>
          </a:p>
        </p:txBody>
      </p:sp>
      <p:sp>
        <p:nvSpPr>
          <p:cNvPr id="27" name="Text 21"/>
          <p:cNvSpPr txBox="1"/>
          <p:nvPr/>
        </p:nvSpPr>
        <p:spPr>
          <a:xfrm>
            <a:off x="7452360" y="42062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C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Copies with the amount they chose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9692640" y="251460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A79CF7"/>
          </a:solidFill>
          <a:ln w="12700">
            <a:solidFill>
              <a:srgbClr val="A79CF7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2680" y="2834640"/>
            <a:ext cx="457200" cy="45720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692640" y="3794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Polymarket</a:t>
            </a:r>
            <a:endParaRPr lang="en-US" sz="1700" dirty="0"/>
          </a:p>
        </p:txBody>
      </p:sp>
      <p:sp>
        <p:nvSpPr>
          <p:cNvPr id="31" name="Text 24"/>
          <p:cNvSpPr txBox="1"/>
          <p:nvPr/>
        </p:nvSpPr>
        <p:spPr>
          <a:xfrm>
            <a:off x="9692640" y="42062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C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 order from their own wallet</a:t>
            </a:r>
            <a:endParaRPr lang="en-US" sz="1400" dirty="0"/>
          </a:p>
        </p:txBody>
      </p:sp>
      <p:sp>
        <p:nvSpPr>
          <p:cNvPr id="32" name="Shape 25"/>
          <p:cNvSpPr/>
          <p:nvPr/>
        </p:nvSpPr>
        <p:spPr>
          <a:xfrm>
            <a:off x="731520" y="5166360"/>
            <a:ext cx="4160520" cy="960120"/>
          </a:xfrm>
          <a:prstGeom prst="roundRect">
            <a:avLst>
              <a:gd name="adj" fmla="val 13333"/>
            </a:avLst>
          </a:prstGeom>
          <a:solidFill>
            <a:srgbClr val="1A1638"/>
          </a:solidFill>
          <a:ln w="12700">
            <a:solidFill>
              <a:srgbClr val="4E3DC9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1005840" y="5303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79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DATADASH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1005840" y="55961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trades are worth following</a:t>
            </a:r>
            <a:endParaRPr lang="en-US" sz="1500" dirty="0"/>
          </a:p>
        </p:txBody>
      </p:sp>
      <p:sp>
        <p:nvSpPr>
          <p:cNvPr id="35" name="Shape 28"/>
          <p:cNvSpPr/>
          <p:nvPr/>
        </p:nvSpPr>
        <p:spPr>
          <a:xfrm>
            <a:off x="5212080" y="5166360"/>
            <a:ext cx="6263640" cy="960120"/>
          </a:xfrm>
          <a:prstGeom prst="roundRect">
            <a:avLst>
              <a:gd name="adj" fmla="val 13333"/>
            </a:avLst>
          </a:prstGeom>
          <a:solidFill>
            <a:srgbClr val="1A1638"/>
          </a:solidFill>
          <a:ln w="12700">
            <a:solidFill>
              <a:srgbClr val="907AF9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5486400" y="5303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79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OKX RAILS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5486400" y="559612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Wallet · OKX.AI subscriptions · Polymarket plugin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66928"/>
            <a:ext cx="91440" cy="91440"/>
          </a:xfrm>
          <a:prstGeom prst="rect">
            <a:avLst/>
          </a:prstGeom>
          <a:solidFill>
            <a:srgbClr val="6247EA"/>
          </a:solidFill>
          <a:ln w="12700">
            <a:solidFill>
              <a:srgbClr val="6247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" y="566928"/>
            <a:ext cx="91440" cy="91440"/>
          </a:xfrm>
          <a:prstGeom prst="rect">
            <a:avLst/>
          </a:prstGeom>
          <a:solidFill>
            <a:srgbClr val="7653F6"/>
          </a:solidFill>
          <a:ln w="12700">
            <a:solidFill>
              <a:srgbClr val="7653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685800"/>
            <a:ext cx="91440" cy="91440"/>
          </a:xfrm>
          <a:prstGeom prst="rect">
            <a:avLst/>
          </a:prstGeom>
          <a:solidFill>
            <a:srgbClr val="907AF9"/>
          </a:solidFill>
          <a:ln w="12700">
            <a:solidFill>
              <a:srgbClr val="907A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685800"/>
            <a:ext cx="91440" cy="91440"/>
          </a:xfrm>
          <a:prstGeom prst="rect">
            <a:avLst/>
          </a:prstGeom>
          <a:solidFill>
            <a:srgbClr val="CECAFF"/>
          </a:solidFill>
          <a:ln w="12700">
            <a:solidFill>
              <a:srgbClr val="CECA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51206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79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THE RULES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96012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 filters. Most big bets never make it.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731520" y="1965960"/>
            <a:ext cx="3474720" cy="1005840"/>
          </a:xfrm>
          <a:prstGeom prst="roundRect">
            <a:avLst>
              <a:gd name="adj" fmla="val 12727"/>
            </a:avLst>
          </a:prstGeom>
          <a:solidFill>
            <a:srgbClr val="1A1638"/>
          </a:solidFill>
          <a:ln w="12700">
            <a:solidFill>
              <a:srgbClr val="1A163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19659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07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1,000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880360" y="196596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positions by Datadash score, any wallet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61688" y="1965960"/>
            <a:ext cx="3474720" cy="1005840"/>
          </a:xfrm>
          <a:prstGeom prst="roundRect">
            <a:avLst>
              <a:gd name="adj" fmla="val 12727"/>
            </a:avLst>
          </a:prstGeom>
          <a:solidFill>
            <a:srgbClr val="1A1638"/>
          </a:solidFill>
          <a:ln w="12700">
            <a:solidFill>
              <a:srgbClr val="1A163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36008" y="19659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07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80+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510528" y="196596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Datadash signal score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91856" y="1965960"/>
            <a:ext cx="3474720" cy="1005840"/>
          </a:xfrm>
          <a:prstGeom prst="roundRect">
            <a:avLst>
              <a:gd name="adj" fmla="val 12727"/>
            </a:avLst>
          </a:prstGeom>
          <a:solidFill>
            <a:srgbClr val="1A1638"/>
          </a:solidFill>
          <a:ln w="12700">
            <a:solidFill>
              <a:srgbClr val="1A163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66176" y="19659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07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3x+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10140696" y="196596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trader's usual bet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3108960"/>
            <a:ext cx="3474720" cy="1005840"/>
          </a:xfrm>
          <a:prstGeom prst="roundRect">
            <a:avLst>
              <a:gd name="adj" fmla="val 12727"/>
            </a:avLst>
          </a:prstGeom>
          <a:solidFill>
            <a:srgbClr val="1A1638"/>
          </a:solidFill>
          <a:ln w="12700">
            <a:solidFill>
              <a:srgbClr val="1A163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5840" y="31089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07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$5K+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2880360" y="310896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their money behind it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61688" y="3108960"/>
            <a:ext cx="3474720" cy="1005840"/>
          </a:xfrm>
          <a:prstGeom prst="roundRect">
            <a:avLst>
              <a:gd name="adj" fmla="val 12727"/>
            </a:avLst>
          </a:prstGeom>
          <a:solidFill>
            <a:srgbClr val="1A1638"/>
          </a:solidFill>
          <a:ln w="12700">
            <a:solidFill>
              <a:srgbClr val="1A163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36008" y="31089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07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10–85¢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6510528" y="310896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price: about +16% or more if right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991856" y="3108960"/>
            <a:ext cx="3474720" cy="1005840"/>
          </a:xfrm>
          <a:prstGeom prst="roundRect">
            <a:avLst>
              <a:gd name="adj" fmla="val 12727"/>
            </a:avLst>
          </a:prstGeom>
          <a:solidFill>
            <a:srgbClr val="1A1638"/>
          </a:solidFill>
          <a:ln w="12700">
            <a:solidFill>
              <a:srgbClr val="1A163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66176" y="31089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07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+3¢ / −10¢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10140696" y="310896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vs. their entry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31520" y="4251960"/>
            <a:ext cx="3474720" cy="1005840"/>
          </a:xfrm>
          <a:prstGeom prst="roundRect">
            <a:avLst>
              <a:gd name="adj" fmla="val 12727"/>
            </a:avLst>
          </a:prstGeom>
          <a:solidFill>
            <a:srgbClr val="1A1638"/>
          </a:solidFill>
          <a:ln w="12700">
            <a:solidFill>
              <a:srgbClr val="1A163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05840" y="42519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07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days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2880360" y="425196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the trader last bought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361688" y="4251960"/>
            <a:ext cx="3474720" cy="1005840"/>
          </a:xfrm>
          <a:prstGeom prst="roundRect">
            <a:avLst>
              <a:gd name="adj" fmla="val 12727"/>
            </a:avLst>
          </a:prstGeom>
          <a:solidFill>
            <a:srgbClr val="1A1638"/>
          </a:solidFill>
          <a:ln w="12700">
            <a:solidFill>
              <a:srgbClr val="1A163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636008" y="42519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07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1–120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6510528" y="425196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until the market ends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991856" y="4251960"/>
            <a:ext cx="3474720" cy="1005840"/>
          </a:xfrm>
          <a:prstGeom prst="roundRect">
            <a:avLst>
              <a:gd name="adj" fmla="val 12727"/>
            </a:avLst>
          </a:prstGeom>
          <a:solidFill>
            <a:srgbClr val="6247EA"/>
          </a:solidFill>
          <a:ln w="12700">
            <a:solidFill>
              <a:srgbClr val="6247E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66176" y="42519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400" dirty="0"/>
          </a:p>
        </p:txBody>
      </p:sp>
      <p:sp>
        <p:nvSpPr>
          <p:cNvPr id="34" name="Text 32"/>
          <p:cNvSpPr txBox="1"/>
          <p:nvPr/>
        </p:nvSpPr>
        <p:spPr>
          <a:xfrm>
            <a:off x="10140696" y="425196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EC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top-500 money on the same side, $10K+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31520" y="5577840"/>
            <a:ext cx="3474720" cy="502920"/>
          </a:xfrm>
          <a:prstGeom prst="roundRect">
            <a:avLst>
              <a:gd name="adj" fmla="val 49091"/>
            </a:avLst>
          </a:prstGeom>
          <a:solidFill>
            <a:srgbClr val="0E0C1F"/>
          </a:solidFill>
          <a:ln w="15875">
            <a:solidFill>
              <a:srgbClr val="322B6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31520" y="55778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C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new signals per round, strongest first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361688" y="5577840"/>
            <a:ext cx="3474720" cy="502920"/>
          </a:xfrm>
          <a:prstGeom prst="roundRect">
            <a:avLst>
              <a:gd name="adj" fmla="val 49091"/>
            </a:avLst>
          </a:prstGeom>
          <a:solidFill>
            <a:srgbClr val="0E0C1F"/>
          </a:solidFill>
          <a:ln w="15875">
            <a:solidFill>
              <a:srgbClr val="322B6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361688" y="55778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C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live signal per event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991856" y="5577840"/>
            <a:ext cx="3474720" cy="502920"/>
          </a:xfrm>
          <a:prstGeom prst="roundRect">
            <a:avLst>
              <a:gd name="adj" fmla="val 49091"/>
            </a:avLst>
          </a:prstGeom>
          <a:solidFill>
            <a:srgbClr val="0E0C1F"/>
          </a:solidFill>
          <a:ln w="15875">
            <a:solidFill>
              <a:srgbClr val="322B6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991856" y="55778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C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live signal per trader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66928"/>
            <a:ext cx="91440" cy="91440"/>
          </a:xfrm>
          <a:prstGeom prst="rect">
            <a:avLst/>
          </a:prstGeom>
          <a:solidFill>
            <a:srgbClr val="6247EA"/>
          </a:solidFill>
          <a:ln w="12700">
            <a:solidFill>
              <a:srgbClr val="6247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" y="566928"/>
            <a:ext cx="91440" cy="91440"/>
          </a:xfrm>
          <a:prstGeom prst="rect">
            <a:avLst/>
          </a:prstGeom>
          <a:solidFill>
            <a:srgbClr val="7653F6"/>
          </a:solidFill>
          <a:ln w="12700">
            <a:solidFill>
              <a:srgbClr val="7653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685800"/>
            <a:ext cx="91440" cy="91440"/>
          </a:xfrm>
          <a:prstGeom prst="rect">
            <a:avLst/>
          </a:prstGeom>
          <a:solidFill>
            <a:srgbClr val="907AF9"/>
          </a:solidFill>
          <a:ln w="12700">
            <a:solidFill>
              <a:srgbClr val="907A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685800"/>
            <a:ext cx="91440" cy="91440"/>
          </a:xfrm>
          <a:prstGeom prst="rect">
            <a:avLst/>
          </a:prstGeom>
          <a:solidFill>
            <a:srgbClr val="CECAFF"/>
          </a:solidFill>
          <a:ln w="12700">
            <a:solidFill>
              <a:srgbClr val="CECA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51206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79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THE EVIDENCE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96012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 days replayed: roughly break-even.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2402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</a:t>
            </a:r>
            <a:endParaRPr lang="en-US" sz="6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38328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+2.5% ± 3.6% per signal over 615 settled signals at $100 each, March to September 2026. Backtest, not a promise.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2519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66.5%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846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42519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2560320" y="4846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entry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0" y="42519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$2.5K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4389120" y="4846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drawdown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92240" y="2011680"/>
            <a:ext cx="5212080" cy="3429000"/>
          </a:xfrm>
          <a:prstGeom prst="roundRect">
            <a:avLst>
              <a:gd name="adj" fmla="val 3733"/>
            </a:avLst>
          </a:prstGeom>
          <a:solidFill>
            <a:srgbClr val="1A1638"/>
          </a:solidFill>
          <a:ln w="12700">
            <a:solidFill>
              <a:srgbClr val="1A163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20840" y="21488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C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return by entry price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720840" y="3703320"/>
            <a:ext cx="4754880" cy="0"/>
          </a:xfrm>
          <a:prstGeom prst="line">
            <a:avLst/>
          </a:prstGeom>
          <a:noFill/>
          <a:ln w="12700">
            <a:solidFill>
              <a:srgbClr val="322B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40880" y="3703320"/>
            <a:ext cx="640080" cy="914400"/>
          </a:xfrm>
          <a:prstGeom prst="rect">
            <a:avLst/>
          </a:prstGeom>
          <a:solidFill>
            <a:srgbClr val="FF6B7A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12280" y="4663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-10.0%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766560" y="50749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C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10–30¢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9C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 signals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83880" y="3438144"/>
            <a:ext cx="640080" cy="265176"/>
          </a:xfrm>
          <a:prstGeom prst="rect">
            <a:avLst/>
          </a:prstGeom>
          <a:solidFill>
            <a:srgbClr val="7653F6"/>
          </a:solidFill>
          <a:ln w="12700">
            <a:solidFill>
              <a:srgbClr val="7653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955280" y="31181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+2.9%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909560" y="50749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C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30–50¢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9C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 signals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326880" y="3703320"/>
            <a:ext cx="640080" cy="118872"/>
          </a:xfrm>
          <a:prstGeom prst="rect">
            <a:avLst/>
          </a:prstGeom>
          <a:solidFill>
            <a:srgbClr val="FF6B7A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098280" y="38679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-1.3%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052560" y="50749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C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50–70¢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9C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 signals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469880" y="3401568"/>
            <a:ext cx="640080" cy="301752"/>
          </a:xfrm>
          <a:prstGeom prst="rect">
            <a:avLst/>
          </a:prstGeom>
          <a:solidFill>
            <a:srgbClr val="7653F6"/>
          </a:solidFill>
          <a:ln w="12700">
            <a:solidFill>
              <a:srgbClr val="7653F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241280" y="3081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+3.3%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0195560" y="50749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C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70–85¢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9C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304 signals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31520" y="5623560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C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can't test: the Datadash score and the smart-money check only exist for today's holdings, and wallet ranks are today's. So every live signal is scored as its market settles: the track record is the real test.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66928"/>
            <a:ext cx="91440" cy="91440"/>
          </a:xfrm>
          <a:prstGeom prst="rect">
            <a:avLst/>
          </a:prstGeom>
          <a:solidFill>
            <a:srgbClr val="6247EA"/>
          </a:solidFill>
          <a:ln w="12700">
            <a:solidFill>
              <a:srgbClr val="6247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" y="566928"/>
            <a:ext cx="91440" cy="91440"/>
          </a:xfrm>
          <a:prstGeom prst="rect">
            <a:avLst/>
          </a:prstGeom>
          <a:solidFill>
            <a:srgbClr val="7653F6"/>
          </a:solidFill>
          <a:ln w="12700">
            <a:solidFill>
              <a:srgbClr val="7653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685800"/>
            <a:ext cx="91440" cy="91440"/>
          </a:xfrm>
          <a:prstGeom prst="rect">
            <a:avLst/>
          </a:prstGeom>
          <a:solidFill>
            <a:srgbClr val="907AF9"/>
          </a:solidFill>
          <a:ln w="12700">
            <a:solidFill>
              <a:srgbClr val="907A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685800"/>
            <a:ext cx="91440" cy="91440"/>
          </a:xfrm>
          <a:prstGeom prst="rect">
            <a:avLst/>
          </a:prstGeom>
          <a:solidFill>
            <a:srgbClr val="CECAFF"/>
          </a:solidFill>
          <a:ln w="12700">
            <a:solidFill>
              <a:srgbClr val="CECA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51206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79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TRUST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96012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rule answers something we saw.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E88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SAW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79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AGENT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377440"/>
            <a:ext cx="10744200" cy="658368"/>
          </a:xfrm>
          <a:prstGeom prst="roundRect">
            <a:avLst>
              <a:gd name="adj" fmla="val 19444"/>
            </a:avLst>
          </a:prstGeom>
          <a:solidFill>
            <a:srgbClr val="1A1638"/>
          </a:solidFill>
          <a:ln w="12700">
            <a:solidFill>
              <a:srgbClr val="1A163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237744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C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wallet drove 4 of 13 signals</a:t>
            </a:r>
            <a:endParaRPr lang="en-US" sz="17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596896"/>
            <a:ext cx="237744" cy="219456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355080" y="237744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live signal per event and per trader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731520" y="3163824"/>
            <a:ext cx="10744200" cy="658368"/>
          </a:xfrm>
          <a:prstGeom prst="roundRect">
            <a:avLst>
              <a:gd name="adj" fmla="val 19444"/>
            </a:avLst>
          </a:prstGeom>
          <a:solidFill>
            <a:srgbClr val="1A1638"/>
          </a:solidFill>
          <a:ln w="12700">
            <a:solidFill>
              <a:srgbClr val="1A163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05840" y="316382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C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lone whale can be wrong or hedged</a:t>
            </a:r>
            <a:endParaRPr lang="en-US" sz="17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3383280"/>
            <a:ext cx="237744" cy="219456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355080" y="3163824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Smart-money consensus must agree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731520" y="3950208"/>
            <a:ext cx="10744200" cy="658368"/>
          </a:xfrm>
          <a:prstGeom prst="roundRect">
            <a:avLst>
              <a:gd name="adj" fmla="val 19444"/>
            </a:avLst>
          </a:prstGeom>
          <a:solidFill>
            <a:srgbClr val="1A1638"/>
          </a:solidFill>
          <a:ln w="12700">
            <a:solidFill>
              <a:srgbClr val="1A1638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005840" y="395020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C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traders were already losing badly</a:t>
            </a:r>
            <a:endParaRPr lang="en-US" sz="17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4169664"/>
            <a:ext cx="237744" cy="21945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355080" y="3950208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 prices 10¢+ below their entry</a:t>
            </a:r>
            <a:endParaRPr lang="en-US" sz="1700" dirty="0"/>
          </a:p>
        </p:txBody>
      </p:sp>
      <p:sp>
        <p:nvSpPr>
          <p:cNvPr id="22" name="Shape 17"/>
          <p:cNvSpPr/>
          <p:nvPr/>
        </p:nvSpPr>
        <p:spPr>
          <a:xfrm>
            <a:off x="731520" y="4736592"/>
            <a:ext cx="10744200" cy="658368"/>
          </a:xfrm>
          <a:prstGeom prst="roundRect">
            <a:avLst>
              <a:gd name="adj" fmla="val 19444"/>
            </a:avLst>
          </a:prstGeom>
          <a:solidFill>
            <a:srgbClr val="1A1638"/>
          </a:solidFill>
          <a:ln w="12700">
            <a:solidFill>
              <a:srgbClr val="1A1638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1005840" y="4736592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C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holdings and sells looked like news</a:t>
            </a:r>
            <a:endParaRPr lang="en-US" sz="17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4956048"/>
            <a:ext cx="237744" cy="21945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355080" y="4736592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trader must have bought within 7 days</a:t>
            </a:r>
            <a:endParaRPr lang="en-US" sz="1700" dirty="0"/>
          </a:p>
        </p:txBody>
      </p:sp>
      <p:sp>
        <p:nvSpPr>
          <p:cNvPr id="26" name="Shape 20"/>
          <p:cNvSpPr/>
          <p:nvPr/>
        </p:nvSpPr>
        <p:spPr>
          <a:xfrm>
            <a:off x="731520" y="5522976"/>
            <a:ext cx="10744200" cy="658368"/>
          </a:xfrm>
          <a:prstGeom prst="roundRect">
            <a:avLst>
              <a:gd name="adj" fmla="val 19444"/>
            </a:avLst>
          </a:prstGeom>
          <a:solidFill>
            <a:srgbClr val="1A1638"/>
          </a:solidFill>
          <a:ln w="12700">
            <a:solidFill>
              <a:srgbClr val="1A1638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1005840" y="5522976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C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Subscribers can't verify claims</a:t>
            </a:r>
            <a:endParaRPr lang="en-US" sz="17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0" y="5742432"/>
            <a:ext cx="237744" cy="219456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6355080" y="5522976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signal sent is scored once it settles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66928"/>
            <a:ext cx="91440" cy="91440"/>
          </a:xfrm>
          <a:prstGeom prst="rect">
            <a:avLst/>
          </a:prstGeom>
          <a:solidFill>
            <a:srgbClr val="6247EA"/>
          </a:solidFill>
          <a:ln w="12700">
            <a:solidFill>
              <a:srgbClr val="6247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" y="566928"/>
            <a:ext cx="91440" cy="91440"/>
          </a:xfrm>
          <a:prstGeom prst="rect">
            <a:avLst/>
          </a:prstGeom>
          <a:solidFill>
            <a:srgbClr val="7653F6"/>
          </a:solidFill>
          <a:ln w="12700">
            <a:solidFill>
              <a:srgbClr val="7653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685800"/>
            <a:ext cx="91440" cy="91440"/>
          </a:xfrm>
          <a:prstGeom prst="rect">
            <a:avLst/>
          </a:prstGeom>
          <a:solidFill>
            <a:srgbClr val="907AF9"/>
          </a:solidFill>
          <a:ln w="12700">
            <a:solidFill>
              <a:srgbClr val="907A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685800"/>
            <a:ext cx="91440" cy="91440"/>
          </a:xfrm>
          <a:prstGeom prst="rect">
            <a:avLst/>
          </a:prstGeom>
          <a:solidFill>
            <a:srgbClr val="CECAFF"/>
          </a:solidFill>
          <a:ln w="12700">
            <a:solidFill>
              <a:srgbClr val="CECA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51206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79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BUSINESS MODEL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96012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data pulls agents in. Signals pay.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731520" y="2011680"/>
            <a:ext cx="3429000" cy="4206240"/>
          </a:xfrm>
          <a:prstGeom prst="roundRect">
            <a:avLst>
              <a:gd name="adj" fmla="val 3733"/>
            </a:avLst>
          </a:prstGeom>
          <a:solidFill>
            <a:srgbClr val="1A1638"/>
          </a:solidFill>
          <a:ln w="12700">
            <a:solidFill>
              <a:srgbClr val="1A163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79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7889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611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A2MCP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425196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Datadash's MCP tools, any agent can call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money, scores, wallets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the data before paying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361688" y="2011680"/>
            <a:ext cx="3429000" cy="4206240"/>
          </a:xfrm>
          <a:prstGeom prst="roundRect">
            <a:avLst>
              <a:gd name="adj" fmla="val 3733"/>
            </a:avLst>
          </a:prstGeom>
          <a:solidFill>
            <a:srgbClr val="6247EA"/>
          </a:solidFill>
          <a:ln w="12700">
            <a:solidFill>
              <a:srgbClr val="6247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81728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EC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36208" y="2304288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36208" y="230428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247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AGENT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681728" y="27889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USDT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4681728" y="3611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EC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month, 3-day trial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681728" y="425196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Scanned every 2 minutes, signals as they qualify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Copy-trading through your own agent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record of every signal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991856" y="2011680"/>
            <a:ext cx="3429000" cy="4206240"/>
          </a:xfrm>
          <a:prstGeom prst="roundRect">
            <a:avLst>
              <a:gd name="adj" fmla="val 3733"/>
            </a:avLst>
          </a:prstGeom>
          <a:solidFill>
            <a:srgbClr val="1A1638"/>
          </a:solidFill>
          <a:ln w="12700">
            <a:solidFill>
              <a:srgbClr val="1A163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11896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79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866376" y="2304288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0E0C1F"/>
          </a:solidFill>
          <a:ln w="12700">
            <a:solidFill>
              <a:srgbClr val="8E88B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866376" y="230428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8E88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311896" y="27889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USDT</a:t>
            </a:r>
            <a:endParaRPr lang="en-US" sz="4400" dirty="0"/>
          </a:p>
        </p:txBody>
      </p:sp>
      <p:sp>
        <p:nvSpPr>
          <p:cNvPr id="25" name="Text 23"/>
          <p:cNvSpPr txBox="1"/>
          <p:nvPr/>
        </p:nvSpPr>
        <p:spPr>
          <a:xfrm>
            <a:off x="8311896" y="3611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month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311896" y="425196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30-second scans, no cap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trader lists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filters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66928"/>
            <a:ext cx="91440" cy="91440"/>
          </a:xfrm>
          <a:prstGeom prst="rect">
            <a:avLst/>
          </a:prstGeom>
          <a:solidFill>
            <a:srgbClr val="6247EA"/>
          </a:solidFill>
          <a:ln w="12700">
            <a:solidFill>
              <a:srgbClr val="6247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" y="566928"/>
            <a:ext cx="91440" cy="91440"/>
          </a:xfrm>
          <a:prstGeom prst="rect">
            <a:avLst/>
          </a:prstGeom>
          <a:solidFill>
            <a:srgbClr val="7653F6"/>
          </a:solidFill>
          <a:ln w="12700">
            <a:solidFill>
              <a:srgbClr val="7653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685800"/>
            <a:ext cx="91440" cy="91440"/>
          </a:xfrm>
          <a:prstGeom prst="rect">
            <a:avLst/>
          </a:prstGeom>
          <a:solidFill>
            <a:srgbClr val="907AF9"/>
          </a:solidFill>
          <a:ln w="12700">
            <a:solidFill>
              <a:srgbClr val="907A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685800"/>
            <a:ext cx="91440" cy="91440"/>
          </a:xfrm>
          <a:prstGeom prst="rect">
            <a:avLst/>
          </a:prstGeom>
          <a:solidFill>
            <a:srgbClr val="CECAFF"/>
          </a:solidFill>
          <a:ln w="12700">
            <a:solidFill>
              <a:srgbClr val="CECA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51206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79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DEMO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96012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search to a limit order in 3 minutes.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1280160" y="2743200"/>
            <a:ext cx="9144000" cy="0"/>
          </a:xfrm>
          <a:prstGeom prst="line">
            <a:avLst/>
          </a:prstGeom>
          <a:noFill/>
          <a:ln w="25400">
            <a:solidFill>
              <a:srgbClr val="322B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19456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4E3DC9"/>
          </a:solidFill>
          <a:ln w="12700">
            <a:solidFill>
              <a:srgbClr val="4E3DC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1945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520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97764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C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"Find a Polymarket smart money signal service on OKX.AI"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971800" y="219456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6247EA"/>
          </a:solidFill>
          <a:ln w="12700">
            <a:solidFill>
              <a:srgbClr val="6247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71800" y="21945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2971800" y="3520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2971800" y="397764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C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trial, copy-trading on, $5 per order. Escrow on X Layer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212080" y="219456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7653F6"/>
          </a:solidFill>
          <a:ln w="12700">
            <a:solidFill>
              <a:srgbClr val="7653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12080" y="21945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5212080" y="3520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5212080" y="397764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C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logs: new signal, delivered. It lands on the buyer's screen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452360" y="219456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907AF9"/>
          </a:solidFill>
          <a:ln w="12700">
            <a:solidFill>
              <a:srgbClr val="907AF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52360" y="21945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7452360" y="3520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7452360" y="397764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C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buyer's agent places the $5 limit order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692640" y="219456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A79CF7"/>
          </a:solidFill>
          <a:ln w="12700">
            <a:solidFill>
              <a:srgbClr val="A79CF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692640" y="21945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9692640" y="3520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9692640" y="397764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C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transaction on Polygonscan, the position on Polymarket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31520" y="5486400"/>
            <a:ext cx="10744200" cy="685800"/>
          </a:xfrm>
          <a:prstGeom prst="roundRect">
            <a:avLst>
              <a:gd name="adj" fmla="val 18667"/>
            </a:avLst>
          </a:prstGeom>
          <a:solidFill>
            <a:srgbClr val="1A1638"/>
          </a:solidFill>
          <a:ln w="12700">
            <a:solidFill>
              <a:srgbClr val="1A163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05840" y="548640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didn't fill? By design: the limit is capped at 3¢ over what the top traders paid, so subscribers never chase.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66928"/>
            <a:ext cx="91440" cy="91440"/>
          </a:xfrm>
          <a:prstGeom prst="rect">
            <a:avLst/>
          </a:prstGeom>
          <a:solidFill>
            <a:srgbClr val="6247EA"/>
          </a:solidFill>
          <a:ln w="12700">
            <a:solidFill>
              <a:srgbClr val="6247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" y="566928"/>
            <a:ext cx="91440" cy="91440"/>
          </a:xfrm>
          <a:prstGeom prst="rect">
            <a:avLst/>
          </a:prstGeom>
          <a:solidFill>
            <a:srgbClr val="7653F6"/>
          </a:solidFill>
          <a:ln w="12700">
            <a:solidFill>
              <a:srgbClr val="7653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685800"/>
            <a:ext cx="91440" cy="91440"/>
          </a:xfrm>
          <a:prstGeom prst="rect">
            <a:avLst/>
          </a:prstGeom>
          <a:solidFill>
            <a:srgbClr val="907AF9"/>
          </a:solidFill>
          <a:ln w="12700">
            <a:solidFill>
              <a:srgbClr val="907A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685800"/>
            <a:ext cx="91440" cy="91440"/>
          </a:xfrm>
          <a:prstGeom prst="rect">
            <a:avLst/>
          </a:prstGeom>
          <a:solidFill>
            <a:srgbClr val="CECAFF"/>
          </a:solidFill>
          <a:ln w="12700">
            <a:solidFill>
              <a:srgbClr val="CECA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51206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79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WHAT'S NEXT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96012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grows.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256032" cy="256032"/>
          </a:xfrm>
          <a:prstGeom prst="rect">
            <a:avLst/>
          </a:prstGeom>
          <a:solidFill>
            <a:srgbClr val="6247EA"/>
          </a:solidFill>
          <a:ln w="12700">
            <a:solidFill>
              <a:srgbClr val="6247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20299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6247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2697480"/>
            <a:ext cx="3429000" cy="914400"/>
          </a:xfrm>
          <a:prstGeom prst="roundRect">
            <a:avLst>
              <a:gd name="adj" fmla="val 14000"/>
            </a:avLst>
          </a:prstGeom>
          <a:solidFill>
            <a:srgbClr val="1A1638"/>
          </a:solidFill>
          <a:ln w="12700">
            <a:solidFill>
              <a:srgbClr val="1A163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26974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list on OKX.AI (review pending)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3429000" cy="914400"/>
          </a:xfrm>
          <a:prstGeom prst="roundRect">
            <a:avLst>
              <a:gd name="adj" fmla="val 14000"/>
            </a:avLst>
          </a:prstGeom>
          <a:solidFill>
            <a:srgbClr val="1A1638"/>
          </a:solidFill>
          <a:ln w="12700">
            <a:solidFill>
              <a:srgbClr val="1A163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37947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+ smart-money confirmation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4892040"/>
            <a:ext cx="3429000" cy="914400"/>
          </a:xfrm>
          <a:prstGeom prst="roundRect">
            <a:avLst>
              <a:gd name="adj" fmla="val 14000"/>
            </a:avLst>
          </a:prstGeom>
          <a:solidFill>
            <a:srgbClr val="1A1638"/>
          </a:solidFill>
          <a:ln w="12700">
            <a:solidFill>
              <a:srgbClr val="1A163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05840" y="48920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Backtest done; track record starts with the first signal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61688" y="2103120"/>
            <a:ext cx="256032" cy="256032"/>
          </a:xfrm>
          <a:prstGeom prst="rect">
            <a:avLst/>
          </a:prstGeom>
          <a:solidFill>
            <a:srgbClr val="907AF9"/>
          </a:solidFill>
          <a:ln w="12700">
            <a:solidFill>
              <a:srgbClr val="907AF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73168" y="20299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907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361688" y="2697480"/>
            <a:ext cx="3429000" cy="914400"/>
          </a:xfrm>
          <a:prstGeom prst="roundRect">
            <a:avLst>
              <a:gd name="adj" fmla="val 14000"/>
            </a:avLst>
          </a:prstGeom>
          <a:solidFill>
            <a:srgbClr val="1A1638"/>
          </a:solidFill>
          <a:ln w="12700">
            <a:solidFill>
              <a:srgbClr val="1A163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36008" y="26974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tier on the same identity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361688" y="3794760"/>
            <a:ext cx="3429000" cy="914400"/>
          </a:xfrm>
          <a:prstGeom prst="roundRect">
            <a:avLst>
              <a:gd name="adj" fmla="val 14000"/>
            </a:avLst>
          </a:prstGeom>
          <a:solidFill>
            <a:srgbClr val="1A1638"/>
          </a:solidFill>
          <a:ln w="12700">
            <a:solidFill>
              <a:srgbClr val="1A163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36008" y="37947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filters for subscribers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361688" y="4892040"/>
            <a:ext cx="3429000" cy="914400"/>
          </a:xfrm>
          <a:prstGeom prst="roundRect">
            <a:avLst>
              <a:gd name="adj" fmla="val 14000"/>
            </a:avLst>
          </a:prstGeom>
          <a:solidFill>
            <a:srgbClr val="1A1638"/>
          </a:solidFill>
          <a:ln w="12700">
            <a:solidFill>
              <a:srgbClr val="1A163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36008" y="48920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Thresholds tuned on the live record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991856" y="2103120"/>
            <a:ext cx="256032" cy="256032"/>
          </a:xfrm>
          <a:prstGeom prst="rect">
            <a:avLst/>
          </a:prstGeom>
          <a:solidFill>
            <a:srgbClr val="CECAFF"/>
          </a:solidFill>
          <a:ln w="12700">
            <a:solidFill>
              <a:srgbClr val="CECA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03336" y="20299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EC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991856" y="2697480"/>
            <a:ext cx="3429000" cy="914400"/>
          </a:xfrm>
          <a:prstGeom prst="roundRect">
            <a:avLst>
              <a:gd name="adj" fmla="val 14000"/>
            </a:avLst>
          </a:prstGeom>
          <a:solidFill>
            <a:srgbClr val="1A1638"/>
          </a:solidFill>
          <a:ln w="12700">
            <a:solidFill>
              <a:srgbClr val="1A163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66176" y="26974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prediction market Datadash indexes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991856" y="3794760"/>
            <a:ext cx="3429000" cy="914400"/>
          </a:xfrm>
          <a:prstGeom prst="roundRect">
            <a:avLst>
              <a:gd name="adj" fmla="val 14000"/>
            </a:avLst>
          </a:prstGeom>
          <a:solidFill>
            <a:srgbClr val="1A1638"/>
          </a:solidFill>
          <a:ln w="12700">
            <a:solidFill>
              <a:srgbClr val="1A163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66176" y="37947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 the Datadash score as an API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991856" y="4892040"/>
            <a:ext cx="3429000" cy="914400"/>
          </a:xfrm>
          <a:prstGeom prst="roundRect">
            <a:avLst>
              <a:gd name="adj" fmla="val 14000"/>
            </a:avLst>
          </a:prstGeom>
          <a:solidFill>
            <a:srgbClr val="1A1638"/>
          </a:solidFill>
          <a:ln w="12700">
            <a:solidFill>
              <a:srgbClr val="1A163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66176" y="48920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 for other agent marketplaces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4023360"/>
            <a:ext cx="713232" cy="713232"/>
          </a:xfrm>
          <a:prstGeom prst="rect">
            <a:avLst/>
          </a:prstGeom>
          <a:solidFill>
            <a:srgbClr val="2B2466"/>
          </a:solidFill>
          <a:ln w="12700">
            <a:solidFill>
              <a:srgbClr val="2B24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" y="4023360"/>
            <a:ext cx="713232" cy="713232"/>
          </a:xfrm>
          <a:prstGeom prst="rect">
            <a:avLst/>
          </a:prstGeom>
          <a:solidFill>
            <a:srgbClr val="2B2466"/>
          </a:solidFill>
          <a:ln w="12700">
            <a:solidFill>
              <a:srgbClr val="2B24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4023360"/>
            <a:ext cx="713232" cy="713232"/>
          </a:xfrm>
          <a:prstGeom prst="rect">
            <a:avLst/>
          </a:prstGeom>
          <a:solidFill>
            <a:srgbClr val="4E3DC9"/>
          </a:solidFill>
          <a:ln w="12700">
            <a:solidFill>
              <a:srgbClr val="4E3D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4023360"/>
            <a:ext cx="713232" cy="713232"/>
          </a:xfrm>
          <a:prstGeom prst="rect">
            <a:avLst/>
          </a:prstGeom>
          <a:solidFill>
            <a:srgbClr val="2B2466"/>
          </a:solidFill>
          <a:ln w="12700">
            <a:solidFill>
              <a:srgbClr val="2B24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4023360"/>
            <a:ext cx="713232" cy="713232"/>
          </a:xfrm>
          <a:prstGeom prst="rect">
            <a:avLst/>
          </a:prstGeom>
          <a:solidFill>
            <a:srgbClr val="6247EA"/>
          </a:solidFill>
          <a:ln w="12700">
            <a:solidFill>
              <a:srgbClr val="6247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71800" y="4023360"/>
            <a:ext cx="713232" cy="713232"/>
          </a:xfrm>
          <a:prstGeom prst="rect">
            <a:avLst/>
          </a:prstGeom>
          <a:solidFill>
            <a:srgbClr val="2B2466"/>
          </a:solidFill>
          <a:ln w="12700">
            <a:solidFill>
              <a:srgbClr val="2B24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49040" y="4023360"/>
            <a:ext cx="713232" cy="713232"/>
          </a:xfrm>
          <a:prstGeom prst="rect">
            <a:avLst/>
          </a:prstGeom>
          <a:solidFill>
            <a:srgbClr val="6247EA"/>
          </a:solidFill>
          <a:ln w="12700">
            <a:solidFill>
              <a:srgbClr val="6247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4023360"/>
            <a:ext cx="713232" cy="713232"/>
          </a:xfrm>
          <a:prstGeom prst="rect">
            <a:avLst/>
          </a:prstGeom>
          <a:solidFill>
            <a:srgbClr val="2B2466"/>
          </a:solidFill>
          <a:ln w="12700">
            <a:solidFill>
              <a:srgbClr val="2B24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0" y="4023360"/>
            <a:ext cx="713232" cy="713232"/>
          </a:xfrm>
          <a:prstGeom prst="rect">
            <a:avLst/>
          </a:prstGeom>
          <a:solidFill>
            <a:srgbClr val="2B2466"/>
          </a:solidFill>
          <a:ln w="12700">
            <a:solidFill>
              <a:srgbClr val="2B24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80760" y="4023360"/>
            <a:ext cx="713232" cy="713232"/>
          </a:xfrm>
          <a:prstGeom prst="rect">
            <a:avLst/>
          </a:prstGeom>
          <a:solidFill>
            <a:srgbClr val="7653F6"/>
          </a:solidFill>
          <a:ln w="12700">
            <a:solidFill>
              <a:srgbClr val="7653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0" y="4023360"/>
            <a:ext cx="713232" cy="713232"/>
          </a:xfrm>
          <a:prstGeom prst="rect">
            <a:avLst/>
          </a:prstGeom>
          <a:solidFill>
            <a:srgbClr val="907AF9"/>
          </a:solidFill>
          <a:ln w="12700">
            <a:solidFill>
              <a:srgbClr val="907AF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35240" y="4023360"/>
            <a:ext cx="713232" cy="713232"/>
          </a:xfrm>
          <a:prstGeom prst="rect">
            <a:avLst/>
          </a:prstGeom>
          <a:solidFill>
            <a:srgbClr val="907AF9"/>
          </a:solidFill>
          <a:ln w="12700">
            <a:solidFill>
              <a:srgbClr val="907AF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0" y="4023360"/>
            <a:ext cx="713232" cy="713232"/>
          </a:xfrm>
          <a:prstGeom prst="rect">
            <a:avLst/>
          </a:prstGeom>
          <a:solidFill>
            <a:srgbClr val="2B2466"/>
          </a:solidFill>
          <a:ln w="12700">
            <a:solidFill>
              <a:srgbClr val="2B24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89720" y="4023360"/>
            <a:ext cx="713232" cy="713232"/>
          </a:xfrm>
          <a:prstGeom prst="rect">
            <a:avLst/>
          </a:prstGeom>
          <a:solidFill>
            <a:srgbClr val="A79CF7"/>
          </a:solidFill>
          <a:ln w="12700">
            <a:solidFill>
              <a:srgbClr val="A79C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66960" y="4023360"/>
            <a:ext cx="713232" cy="713232"/>
          </a:xfrm>
          <a:prstGeom prst="rect">
            <a:avLst/>
          </a:prstGeom>
          <a:solidFill>
            <a:srgbClr val="A79CF7"/>
          </a:solidFill>
          <a:ln w="12700">
            <a:solidFill>
              <a:srgbClr val="A79C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521440" y="4023360"/>
            <a:ext cx="713232" cy="713232"/>
          </a:xfrm>
          <a:prstGeom prst="rect">
            <a:avLst/>
          </a:prstGeom>
          <a:solidFill>
            <a:srgbClr val="CECAFF"/>
          </a:solidFill>
          <a:ln w="12700">
            <a:solidFill>
              <a:srgbClr val="CECA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-914400" y="4800600"/>
            <a:ext cx="713232" cy="713232"/>
          </a:xfrm>
          <a:prstGeom prst="rect">
            <a:avLst/>
          </a:prstGeom>
          <a:solidFill>
            <a:srgbClr val="4E3DC9"/>
          </a:solidFill>
          <a:ln w="12700">
            <a:solidFill>
              <a:srgbClr val="4E3DC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-137160" y="4800600"/>
            <a:ext cx="713232" cy="713232"/>
          </a:xfrm>
          <a:prstGeom prst="rect">
            <a:avLst/>
          </a:prstGeom>
          <a:solidFill>
            <a:srgbClr val="4E3DC9"/>
          </a:solidFill>
          <a:ln w="12700">
            <a:solidFill>
              <a:srgbClr val="4E3DC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800600"/>
            <a:ext cx="713232" cy="713232"/>
          </a:xfrm>
          <a:prstGeom prst="rect">
            <a:avLst/>
          </a:prstGeom>
          <a:solidFill>
            <a:srgbClr val="2B2466"/>
          </a:solidFill>
          <a:ln w="12700">
            <a:solidFill>
              <a:srgbClr val="2B24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17320" y="4800600"/>
            <a:ext cx="713232" cy="713232"/>
          </a:xfrm>
          <a:prstGeom prst="rect">
            <a:avLst/>
          </a:prstGeom>
          <a:solidFill>
            <a:srgbClr val="2B2466"/>
          </a:solidFill>
          <a:ln w="12700">
            <a:solidFill>
              <a:srgbClr val="2B24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94560" y="4800600"/>
            <a:ext cx="713232" cy="713232"/>
          </a:xfrm>
          <a:prstGeom prst="rect">
            <a:avLst/>
          </a:prstGeom>
          <a:solidFill>
            <a:srgbClr val="2B2466"/>
          </a:solidFill>
          <a:ln w="12700">
            <a:solidFill>
              <a:srgbClr val="2B24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71800" y="4800600"/>
            <a:ext cx="713232" cy="713232"/>
          </a:xfrm>
          <a:prstGeom prst="rect">
            <a:avLst/>
          </a:prstGeom>
          <a:solidFill>
            <a:srgbClr val="6247EA"/>
          </a:solidFill>
          <a:ln w="12700">
            <a:solidFill>
              <a:srgbClr val="6247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49040" y="4800600"/>
            <a:ext cx="713232" cy="713232"/>
          </a:xfrm>
          <a:prstGeom prst="rect">
            <a:avLst/>
          </a:prstGeom>
          <a:solidFill>
            <a:srgbClr val="7653F6"/>
          </a:solidFill>
          <a:ln w="12700">
            <a:solidFill>
              <a:srgbClr val="7653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26280" y="4800600"/>
            <a:ext cx="713232" cy="713232"/>
          </a:xfrm>
          <a:prstGeom prst="rect">
            <a:avLst/>
          </a:prstGeom>
          <a:solidFill>
            <a:srgbClr val="7653F6"/>
          </a:solidFill>
          <a:ln w="12700">
            <a:solidFill>
              <a:srgbClr val="7653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0" y="4800600"/>
            <a:ext cx="713232" cy="713232"/>
          </a:xfrm>
          <a:prstGeom prst="rect">
            <a:avLst/>
          </a:prstGeom>
          <a:solidFill>
            <a:srgbClr val="2B2466"/>
          </a:solidFill>
          <a:ln w="12700">
            <a:solidFill>
              <a:srgbClr val="2B24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80760" y="4800600"/>
            <a:ext cx="713232" cy="713232"/>
          </a:xfrm>
          <a:prstGeom prst="rect">
            <a:avLst/>
          </a:prstGeom>
          <a:solidFill>
            <a:srgbClr val="2B2466"/>
          </a:solidFill>
          <a:ln w="12700">
            <a:solidFill>
              <a:srgbClr val="2B24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0" y="4800600"/>
            <a:ext cx="713232" cy="713232"/>
          </a:xfrm>
          <a:prstGeom prst="rect">
            <a:avLst/>
          </a:prstGeom>
          <a:solidFill>
            <a:srgbClr val="907AF9"/>
          </a:solidFill>
          <a:ln w="12700">
            <a:solidFill>
              <a:srgbClr val="907AF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12480" y="4800600"/>
            <a:ext cx="713232" cy="713232"/>
          </a:xfrm>
          <a:prstGeom prst="rect">
            <a:avLst/>
          </a:prstGeom>
          <a:solidFill>
            <a:srgbClr val="A79CF7"/>
          </a:solidFill>
          <a:ln w="12700">
            <a:solidFill>
              <a:srgbClr val="A79C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89720" y="4800600"/>
            <a:ext cx="713232" cy="713232"/>
          </a:xfrm>
          <a:prstGeom prst="rect">
            <a:avLst/>
          </a:prstGeom>
          <a:solidFill>
            <a:srgbClr val="A79CF7"/>
          </a:solidFill>
          <a:ln w="12700">
            <a:solidFill>
              <a:srgbClr val="A79CF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66960" y="4800600"/>
            <a:ext cx="713232" cy="713232"/>
          </a:xfrm>
          <a:prstGeom prst="rect">
            <a:avLst/>
          </a:prstGeom>
          <a:solidFill>
            <a:srgbClr val="A79CF7"/>
          </a:solidFill>
          <a:ln w="12700">
            <a:solidFill>
              <a:srgbClr val="A79CF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744200" y="4800600"/>
            <a:ext cx="713232" cy="713232"/>
          </a:xfrm>
          <a:prstGeom prst="rect">
            <a:avLst/>
          </a:prstGeom>
          <a:solidFill>
            <a:srgbClr val="2B2466"/>
          </a:solidFill>
          <a:ln w="12700">
            <a:solidFill>
              <a:srgbClr val="2B246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521440" y="4800600"/>
            <a:ext cx="713232" cy="713232"/>
          </a:xfrm>
          <a:prstGeom prst="rect">
            <a:avLst/>
          </a:prstGeom>
          <a:solidFill>
            <a:srgbClr val="CECAFF"/>
          </a:solidFill>
          <a:ln w="12700">
            <a:solidFill>
              <a:srgbClr val="CECA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-137160" y="5577840"/>
            <a:ext cx="713232" cy="713232"/>
          </a:xfrm>
          <a:prstGeom prst="rect">
            <a:avLst/>
          </a:prstGeom>
          <a:solidFill>
            <a:srgbClr val="2B2466"/>
          </a:solidFill>
          <a:ln w="12700">
            <a:solidFill>
              <a:srgbClr val="2B24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" y="5577840"/>
            <a:ext cx="713232" cy="713232"/>
          </a:xfrm>
          <a:prstGeom prst="rect">
            <a:avLst/>
          </a:prstGeom>
          <a:solidFill>
            <a:srgbClr val="2B2466"/>
          </a:solidFill>
          <a:ln w="12700">
            <a:solidFill>
              <a:srgbClr val="2B24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94560" y="5577840"/>
            <a:ext cx="713232" cy="713232"/>
          </a:xfrm>
          <a:prstGeom prst="rect">
            <a:avLst/>
          </a:prstGeom>
          <a:solidFill>
            <a:srgbClr val="6247EA"/>
          </a:solidFill>
          <a:ln w="12700">
            <a:solidFill>
              <a:srgbClr val="6247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971800" y="5577840"/>
            <a:ext cx="713232" cy="713232"/>
          </a:xfrm>
          <a:prstGeom prst="rect">
            <a:avLst/>
          </a:prstGeom>
          <a:solidFill>
            <a:srgbClr val="2B2466"/>
          </a:solidFill>
          <a:ln w="12700">
            <a:solidFill>
              <a:srgbClr val="2B246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749040" y="5577840"/>
            <a:ext cx="713232" cy="713232"/>
          </a:xfrm>
          <a:prstGeom prst="rect">
            <a:avLst/>
          </a:prstGeom>
          <a:solidFill>
            <a:srgbClr val="7653F6"/>
          </a:solidFill>
          <a:ln w="12700">
            <a:solidFill>
              <a:srgbClr val="7653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26280" y="5577840"/>
            <a:ext cx="713232" cy="713232"/>
          </a:xfrm>
          <a:prstGeom prst="rect">
            <a:avLst/>
          </a:prstGeom>
          <a:solidFill>
            <a:srgbClr val="7653F6"/>
          </a:solidFill>
          <a:ln w="12700">
            <a:solidFill>
              <a:srgbClr val="7653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03520" y="5577840"/>
            <a:ext cx="713232" cy="713232"/>
          </a:xfrm>
          <a:prstGeom prst="rect">
            <a:avLst/>
          </a:prstGeom>
          <a:solidFill>
            <a:srgbClr val="907AF9"/>
          </a:solidFill>
          <a:ln w="12700">
            <a:solidFill>
              <a:srgbClr val="907AF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80760" y="5577840"/>
            <a:ext cx="713232" cy="713232"/>
          </a:xfrm>
          <a:prstGeom prst="rect">
            <a:avLst/>
          </a:prstGeom>
          <a:solidFill>
            <a:srgbClr val="2B2466"/>
          </a:solidFill>
          <a:ln w="12700">
            <a:solidFill>
              <a:srgbClr val="2B246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58000" y="5577840"/>
            <a:ext cx="713232" cy="713232"/>
          </a:xfrm>
          <a:prstGeom prst="rect">
            <a:avLst/>
          </a:prstGeom>
          <a:solidFill>
            <a:srgbClr val="2B2466"/>
          </a:solidFill>
          <a:ln w="12700">
            <a:solidFill>
              <a:srgbClr val="2B246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635240" y="5577840"/>
            <a:ext cx="713232" cy="713232"/>
          </a:xfrm>
          <a:prstGeom prst="rect">
            <a:avLst/>
          </a:prstGeom>
          <a:solidFill>
            <a:srgbClr val="A79CF7"/>
          </a:solidFill>
          <a:ln w="12700">
            <a:solidFill>
              <a:srgbClr val="A79CF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412480" y="5577840"/>
            <a:ext cx="713232" cy="713232"/>
          </a:xfrm>
          <a:prstGeom prst="rect">
            <a:avLst/>
          </a:prstGeom>
          <a:solidFill>
            <a:srgbClr val="2B2466"/>
          </a:solidFill>
          <a:ln w="12700">
            <a:solidFill>
              <a:srgbClr val="2B246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189720" y="5577840"/>
            <a:ext cx="713232" cy="713232"/>
          </a:xfrm>
          <a:prstGeom prst="rect">
            <a:avLst/>
          </a:prstGeom>
          <a:solidFill>
            <a:srgbClr val="A79CF7"/>
          </a:solidFill>
          <a:ln w="12700">
            <a:solidFill>
              <a:srgbClr val="A79CF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966960" y="5577840"/>
            <a:ext cx="713232" cy="713232"/>
          </a:xfrm>
          <a:prstGeom prst="rect">
            <a:avLst/>
          </a:prstGeom>
          <a:solidFill>
            <a:srgbClr val="CECAFF"/>
          </a:solidFill>
          <a:ln w="12700">
            <a:solidFill>
              <a:srgbClr val="CECA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744200" y="5577840"/>
            <a:ext cx="713232" cy="713232"/>
          </a:xfrm>
          <a:prstGeom prst="rect">
            <a:avLst/>
          </a:prstGeom>
          <a:solidFill>
            <a:srgbClr val="2B2466"/>
          </a:solidFill>
          <a:ln w="12700">
            <a:solidFill>
              <a:srgbClr val="2B246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521440" y="5577840"/>
            <a:ext cx="713232" cy="713232"/>
          </a:xfrm>
          <a:prstGeom prst="rect">
            <a:avLst/>
          </a:prstGeom>
          <a:solidFill>
            <a:srgbClr val="CECAFF"/>
          </a:solidFill>
          <a:ln w="12700">
            <a:solidFill>
              <a:srgbClr val="CECA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0080" y="6355080"/>
            <a:ext cx="713232" cy="713232"/>
          </a:xfrm>
          <a:prstGeom prst="rect">
            <a:avLst/>
          </a:prstGeom>
          <a:solidFill>
            <a:srgbClr val="6247EA"/>
          </a:solidFill>
          <a:ln w="12700">
            <a:solidFill>
              <a:srgbClr val="6247E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417320" y="6355080"/>
            <a:ext cx="713232" cy="713232"/>
          </a:xfrm>
          <a:prstGeom prst="rect">
            <a:avLst/>
          </a:prstGeom>
          <a:solidFill>
            <a:srgbClr val="6247EA"/>
          </a:solidFill>
          <a:ln w="12700">
            <a:solidFill>
              <a:srgbClr val="6247E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194560" y="6355080"/>
            <a:ext cx="713232" cy="713232"/>
          </a:xfrm>
          <a:prstGeom prst="rect">
            <a:avLst/>
          </a:prstGeom>
          <a:solidFill>
            <a:srgbClr val="7653F6"/>
          </a:solidFill>
          <a:ln w="12700">
            <a:solidFill>
              <a:srgbClr val="7653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971800" y="6355080"/>
            <a:ext cx="713232" cy="713232"/>
          </a:xfrm>
          <a:prstGeom prst="rect">
            <a:avLst/>
          </a:prstGeom>
          <a:solidFill>
            <a:srgbClr val="7653F6"/>
          </a:solidFill>
          <a:ln w="12700">
            <a:solidFill>
              <a:srgbClr val="7653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749040" y="6355080"/>
            <a:ext cx="713232" cy="713232"/>
          </a:xfrm>
          <a:prstGeom prst="rect">
            <a:avLst/>
          </a:prstGeom>
          <a:solidFill>
            <a:srgbClr val="7653F6"/>
          </a:solidFill>
          <a:ln w="12700">
            <a:solidFill>
              <a:srgbClr val="7653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26280" y="6355080"/>
            <a:ext cx="713232" cy="713232"/>
          </a:xfrm>
          <a:prstGeom prst="rect">
            <a:avLst/>
          </a:prstGeom>
          <a:solidFill>
            <a:srgbClr val="907AF9"/>
          </a:solidFill>
          <a:ln w="12700">
            <a:solidFill>
              <a:srgbClr val="907AF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080760" y="6355080"/>
            <a:ext cx="713232" cy="713232"/>
          </a:xfrm>
          <a:prstGeom prst="rect">
            <a:avLst/>
          </a:prstGeom>
          <a:solidFill>
            <a:srgbClr val="2B2466"/>
          </a:solidFill>
          <a:ln w="12700">
            <a:solidFill>
              <a:srgbClr val="2B246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858000" y="6355080"/>
            <a:ext cx="713232" cy="713232"/>
          </a:xfrm>
          <a:prstGeom prst="rect">
            <a:avLst/>
          </a:prstGeom>
          <a:solidFill>
            <a:srgbClr val="A79CF7"/>
          </a:solidFill>
          <a:ln w="12700">
            <a:solidFill>
              <a:srgbClr val="A79CF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635240" y="6355080"/>
            <a:ext cx="713232" cy="713232"/>
          </a:xfrm>
          <a:prstGeom prst="rect">
            <a:avLst/>
          </a:prstGeom>
          <a:solidFill>
            <a:srgbClr val="A79CF7"/>
          </a:solidFill>
          <a:ln w="12700">
            <a:solidFill>
              <a:srgbClr val="A79CF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412480" y="6355080"/>
            <a:ext cx="713232" cy="713232"/>
          </a:xfrm>
          <a:prstGeom prst="rect">
            <a:avLst/>
          </a:prstGeom>
          <a:solidFill>
            <a:srgbClr val="A79CF7"/>
          </a:solidFill>
          <a:ln w="12700">
            <a:solidFill>
              <a:srgbClr val="A79CF7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189720" y="6355080"/>
            <a:ext cx="713232" cy="713232"/>
          </a:xfrm>
          <a:prstGeom prst="rect">
            <a:avLst/>
          </a:prstGeom>
          <a:solidFill>
            <a:srgbClr val="2B2466"/>
          </a:solidFill>
          <a:ln w="12700">
            <a:solidFill>
              <a:srgbClr val="2B246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966960" y="6355080"/>
            <a:ext cx="713232" cy="713232"/>
          </a:xfrm>
          <a:prstGeom prst="rect">
            <a:avLst/>
          </a:prstGeom>
          <a:solidFill>
            <a:srgbClr val="CECAFF"/>
          </a:solidFill>
          <a:ln w="12700">
            <a:solidFill>
              <a:srgbClr val="CECA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744200" y="6355080"/>
            <a:ext cx="713232" cy="713232"/>
          </a:xfrm>
          <a:prstGeom prst="rect">
            <a:avLst/>
          </a:prstGeom>
          <a:solidFill>
            <a:srgbClr val="CECAFF"/>
          </a:solidFill>
          <a:ln w="12700">
            <a:solidFill>
              <a:srgbClr val="CECAFF"/>
            </a:solidFill>
            <a:prstDash val="solid"/>
          </a:ln>
        </p:spPr>
      </p:sp>
      <p:pic>
        <p:nvPicPr>
          <p:cNvPr id="62" name="Image 0" descr="/Users/arpit/Desktop/datadash/okx-smart-money-agent/listing/ava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502920" cy="502920"/>
          </a:xfrm>
          <a:prstGeom prst="rect">
            <a:avLst/>
          </a:prstGeom>
        </p:spPr>
      </p:pic>
      <p:sp>
        <p:nvSpPr>
          <p:cNvPr id="63" name="Text 60"/>
          <p:cNvSpPr txBox="1"/>
          <p:nvPr/>
        </p:nvSpPr>
        <p:spPr>
          <a:xfrm>
            <a:off x="1371600" y="6400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Datadash Polymarket Analytics</a:t>
            </a:r>
            <a:endParaRPr lang="en-US" sz="2200" dirty="0"/>
          </a:p>
        </p:txBody>
      </p:sp>
      <p:sp>
        <p:nvSpPr>
          <p:cNvPr id="64" name="Text 61"/>
          <p:cNvSpPr txBox="1"/>
          <p:nvPr/>
        </p:nvSpPr>
        <p:spPr>
          <a:xfrm>
            <a:off x="731520" y="146304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Datadash finds the trades.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OKX runs everything else.</a:t>
            </a:r>
            <a:endParaRPr lang="en-US" sz="4800" dirty="0"/>
          </a:p>
        </p:txBody>
      </p:sp>
      <p:sp>
        <p:nvSpPr>
          <p:cNvPr id="65" name="Text 62"/>
          <p:cNvSpPr txBox="1"/>
          <p:nvPr/>
        </p:nvSpPr>
        <p:spPr>
          <a:xfrm>
            <a:off x="731520" y="3291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EC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Polymarket's best traders from any OKX agent.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Datadash Polymarket Analytics on OKX.AI</dc:title>
  <dc:subject>PptxGenJS Presentation</dc:subject>
  <dc:creator>PptxGenJS</dc:creator>
  <cp:lastModifiedBy>PptxGenJS</cp:lastModifiedBy>
  <cp:revision>1</cp:revision>
  <dcterms:created xsi:type="dcterms:W3CDTF">2026-09-23T19:56:55Z</dcterms:created>
  <dcterms:modified xsi:type="dcterms:W3CDTF">2026-09-23T19:56:55Z</dcterms:modified>
</cp:coreProperties>
</file>